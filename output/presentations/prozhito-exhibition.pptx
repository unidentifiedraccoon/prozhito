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6f7e94f80b4da9" /><Relationship Type="http://schemas.openxmlformats.org/officeDocument/2006/relationships/extended-properties" Target="/docProps/app.xml" Id="Re83fc62555704dc2" /><Relationship Type="http://schemas.openxmlformats.org/officeDocument/2006/relationships/officeDocument" Target="/ppt/presentation.xml" Id="R3b79d909689642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34992a4d2e4f5c"/>
  </p:sldMasterIdLst>
  <p:notesMasterIdLst>
    <p:notesMasterId xmlns:r="http://schemas.openxmlformats.org/officeDocument/2006/relationships" r:id="R7e7fc7ab8b6847ed"/>
  </p:notesMasterIdLst>
  <p:sldIdLst>
    <p:sldId xmlns:r="http://schemas.openxmlformats.org/officeDocument/2006/relationships" id="256" r:id="R8ccd56caea444a85"/>
    <p:sldId xmlns:r="http://schemas.openxmlformats.org/officeDocument/2006/relationships" id="257" r:id="R2ec30981cc474df1"/>
    <p:sldId xmlns:r="http://schemas.openxmlformats.org/officeDocument/2006/relationships" id="258" r:id="R2f138a21be4d4131"/>
    <p:sldId xmlns:r="http://schemas.openxmlformats.org/officeDocument/2006/relationships" id="259" r:id="R7b73d2844d104a1b"/>
    <p:sldId xmlns:r="http://schemas.openxmlformats.org/officeDocument/2006/relationships" id="260" r:id="Rd93cc842bca44b8c"/>
    <p:sldId xmlns:r="http://schemas.openxmlformats.org/officeDocument/2006/relationships" id="261" r:id="Re4dd5bf562004f20"/>
    <p:sldId xmlns:r="http://schemas.openxmlformats.org/officeDocument/2006/relationships" id="262" r:id="R9d6c9077876441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c33ccdedb04aca" /><Relationship Type="http://schemas.openxmlformats.org/officeDocument/2006/relationships/slideMaster" Target="/ppt/slideMasters/slideMaster1.xml" Id="R3434992a4d2e4f5c" /><Relationship Type="http://schemas.openxmlformats.org/officeDocument/2006/relationships/notesMaster" Target="/ppt/notesMasters/notesMaster1.xml" Id="R7e7fc7ab8b6847ed" /><Relationship Type="http://schemas.openxmlformats.org/officeDocument/2006/relationships/presProps" Target="/ppt/presProps.xml" Id="R52669594cfe04daf" /><Relationship Type="http://schemas.openxmlformats.org/officeDocument/2006/relationships/tableStyles" Target="/ppt/tableStyles.xml" Id="R07c92fd0570b47c0" /><Relationship Type="http://schemas.openxmlformats.org/officeDocument/2006/relationships/slide" Target="/ppt/slides/slide1.xml" Id="R8ccd56caea444a85" /><Relationship Type="http://schemas.openxmlformats.org/officeDocument/2006/relationships/slide" Target="/ppt/slides/slide2.xml" Id="R2ec30981cc474df1" /><Relationship Type="http://schemas.openxmlformats.org/officeDocument/2006/relationships/slide" Target="/ppt/slides/slide3.xml" Id="R2f138a21be4d4131" /><Relationship Type="http://schemas.openxmlformats.org/officeDocument/2006/relationships/slide" Target="/ppt/slides/slide4.xml" Id="R7b73d2844d104a1b" /><Relationship Type="http://schemas.openxmlformats.org/officeDocument/2006/relationships/slide" Target="/ppt/slides/slide5.xml" Id="Rd93cc842bca44b8c" /><Relationship Type="http://schemas.openxmlformats.org/officeDocument/2006/relationships/slide" Target="/ppt/slides/slide6.xml" Id="Re4dd5bf562004f20" /><Relationship Type="http://schemas.openxmlformats.org/officeDocument/2006/relationships/slide" Target="/ppt/slides/slide7.xml" Id="R9d6c9077876441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67748ac0fe4c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9bbce19755468e" /><Relationship Type="http://schemas.openxmlformats.org/officeDocument/2006/relationships/notesMaster" Target="/ppt/notesMasters/notesMaster1.xml" Id="R211120cb3a20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c31025f8e2428f" /><Relationship Type="http://schemas.openxmlformats.org/officeDocument/2006/relationships/notesMaster" Target="/ppt/notesMasters/notesMaster1.xml" Id="Ra05a25cae4c943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014bd6c83a4bc4" /><Relationship Type="http://schemas.openxmlformats.org/officeDocument/2006/relationships/notesMaster" Target="/ppt/notesMasters/notesMaster1.xml" Id="R08e143a23ea046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ee68f7f4904eb4" /><Relationship Type="http://schemas.openxmlformats.org/officeDocument/2006/relationships/notesMaster" Target="/ppt/notesMasters/notesMaster1.xml" Id="Rf9f36e4edc954a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4df08c76154984" /><Relationship Type="http://schemas.openxmlformats.org/officeDocument/2006/relationships/notesMaster" Target="/ppt/notesMasters/notesMaster1.xml" Id="R8e7608fd44b54e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7ce4535f094ce3" /><Relationship Type="http://schemas.openxmlformats.org/officeDocument/2006/relationships/notesMaster" Target="/ppt/notesMasters/notesMaster1.xml" Id="Re33470b75ff649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d633e54524aec" /><Relationship Type="http://schemas.openxmlformats.org/officeDocument/2006/relationships/notesMaster" Target="/ppt/notesMasters/notesMaster1.xml" Id="R71c2ba0aeede41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около 25 секунд. Саша приезжает в новый город в воскресенье, а в понедельник выходит на новую работу. Новый этап приносит сразу несколько денежных вопросов. Не утверждать, что переезд проходит буквально каждый человек. Представить название и позиционирование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/Users/yura-posledov/Codex/prozhito/content/sections/level-01/section-01-money-by-date.md (проверено 31.08.2026)</a:t>
            </a:r>
          </a:p>
          <a:p xmlns:a="http://schemas.openxmlformats.org/drawingml/2006/main">
            <a:r>
              <a:t>/Users/yura-posledov/Codex/prozhito/src/apps/editorial-v2/assets/level-01/l01-s01-story-v1.jpg (проверено 31.08.2026)</a:t>
            </a:r>
          </a:p>
          <a:p xmlns:a="http://schemas.openxmlformats.org/drawingml/2006/main">
            <a:r>
              <a:t>/Users/yura-posledov/Codex/prozhito/docs/EDITORIAL_V2.md (проверено 31.08.2026)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35 секунд. Плата за комнату нужна за два дня до первой полной зарплаты. Среди ресурсов Саши есть деньги разных форм и сроков доступности. Саша сопоставляет сроки, обращается к Тамаре и фиксирует новую дату после её согласия. В истории показано согласование, но не сам платёж. Это описание вымышленного случая, а не рекомендация читателю и не гарантия переноса срока.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/Users/yura-posledov/Codex/prozhito/content/sections/level-01/section-01-money-by-date.md (проверено 31.08.2026)</a:t>
            </a:r>
          </a:p>
          <a:p xmlns:a="http://schemas.openxmlformats.org/drawingml/2006/main">
            <a:r>
              <a:t>/Users/yura-posledov/Codex/prozhito/src/apps/editorial-v2/assets/level-01/l01-s01-calendar-detail-v1.jpg (проверено 31.08.2026)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40 секунд. Одна Section состоит из двух экранов: история и решение. Упражнение и полный разбор — состояния второго экрана, не третий экран. Читатель восстанавливает ход уже прочитанной истории, а не меняет решение Саши. Можно сразу прочитать разбор. Вопросы относятся к вымышленному кейсу; личные доходы, документы и финансовые данные не нужны. Скриншоты сделаны 31.08.2026 с опубликованного приложения в мобильном размере 390×844. Локальное исключение упражнения подтверждено для первых трёх Section; не обещать такую механику для всех 22 без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https://unidentifiedraccoon.github.io/prozhito/#/editorial-v2/section/l01-s01/analysis (мобильные скриншоты, 31.08.2026)</a:t>
            </a:r>
          </a:p>
          <a:p xmlns:a="http://schemas.openxmlformats.org/drawingml/2006/main">
            <a:r>
              <a:t>/Users/yura-posledov/Codex/prozhito/docs/PRODUCT.md (проверено 31.08.2026)</a:t>
            </a:r>
          </a:p>
          <a:p xmlns:a="http://schemas.openxmlformats.org/drawingml/2006/main">
            <a:r>
              <a:t>/Users/yura-posledov/Codex/prozhito/docs/EDITORIAL_V2.md (проверено 31.08.2026)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30 секунд. Показать три входа в одну жизненную историю: деньги к нужной дате, пауза перед срочным сообщением, черновик вместо памяти. Это настоящие мобильные экраны первых трёх Section. Текст истории в приложении не сокращён; на слайде видна верхняя часть экрана. При желании перейти к устройству на стенде, но не требовать прохождения всех вопросов во время разговора.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https://unidentifiedraccoon.github.io/prozhito/#/editorial-v2/section/l01-s01/story (скриншот, 31.08.2026)</a:t>
            </a:r>
          </a:p>
          <a:p xmlns:a="http://schemas.openxmlformats.org/drawingml/2006/main">
            <a:r>
              <a:t>https://unidentifiedraccoon.github.io/prozhito/#/editorial-v2/section/l01-s02/story (скриншот, 31.08.2026)</a:t>
            </a:r>
          </a:p>
          <a:p xmlns:a="http://schemas.openxmlformats.org/drawingml/2006/main">
            <a:r>
              <a:t>https://unidentifiedraccoon.github.io/prozhito/#/editorial-v2/section/l01-s03/story (скриншот, 31.08.2026)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30 секунд. Показываем заявленный владельцем объём редакционной версии к выставке: 6 уровней, 22 Section. ВАЖНО ДЛЯ ПОДГОТОВКИ: на 31.08.2026 контентная основа и архив содержат 22 Section, а проверенный опубликованный editorial_v2 — три. Владелец планирует завершить редакционное демо до выставки. Перед публичным показом подтвердить доступность всех 22; иначе изменить заголовок на «Программа проекта». Не представлять эту подготовку как уже проверенную полную готовность 22 редакционных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/Users/yura-posledov/Codex/prozhito/docs/CONTENT_MAP.md (проверено 31.08.2026)</a:t>
            </a:r>
          </a:p>
          <a:p xmlns:a="http://schemas.openxmlformats.org/drawingml/2006/main">
            <a:r>
              <a:t>/Users/yura-posledov/Codex/prozhito/harness/PROJECT_STATE.md (проверено 31.08.2026)</a:t>
            </a:r>
          </a:p>
          <a:p xmlns:a="http://schemas.openxmlformats.org/drawingml/2006/main">
            <a:r>
              <a:t>Явное указание владельца в этой беседе от 31.08.2026: выставочная редакционная версия 6 уровней / 22 Section.</a:t>
            </a:r>
          </a:p>
          <a:p xmlns:a="http://schemas.openxmlformats.org/drawingml/2006/main">
            <a:r>
              <a:t>/Users/yura-posledov/Codex/prozhito/src/apps/editorial-v2/assets/level-01/l01-s03-draft-detail-v1.jpg (проверено 31.08.2026)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40 секунд. Это приглашение к обсуждению пилота, а не предложение готовой интеграции, подтверждённая бизнес-модель или обещание эффекта. Для финансовых организаций можно обсудить просветительскую программу; для образовательных — занятие вокруг вымышленной ситуации. Вместе определить аудиторию, контекст использования и исследовательские вопросы. Измерение и сбор обратной связи нужно проектировать отдельно; встроенной аналитики продукта не обещать. Числа эффективности из заметок методиста не включены: подтверждённое исследование Financial Escape Room относится к другой интервенции и не доказывает эффект «Прожито».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Бриф владельца от 31.08.2026: знакомство с продуктом, финансовые и образовательные партнёры, обсуждение пилота.</a:t>
            </a:r>
          </a:p>
          <a:p xmlns:a="http://schemas.openxmlformats.org/drawingml/2006/main">
            <a:r>
              <a:t>/Users/yura-posledov/Codex/prozhito/docs/PRODUCT.md (проверено 31.08.2026)</a:t>
            </a:r>
          </a:p>
          <a:p xmlns:a="http://schemas.openxmlformats.org/drawingml/2006/main">
            <a:r>
              <a:t>/Users/yura-posledov/Codex/prozhito/docs/SAFETY.md (проверено 31.08.2026)</a:t>
            </a:r>
          </a:p>
          <a:p xmlns:a="http://schemas.openxmlformats.org/drawingml/2006/main">
            <a:r>
              <a:t>Исследование проверено только для исключения неподдержанного переноса эффекта: Cannistrà et al. (2024), https://doi.org/10.1016/j.jce.2024.08.001 ; https://pure.hva.nl/ws/portalfiles/portal/52560063/1-s2.0-S0147596724000441-main.pdf . Иной продукт и аудитория, не доказательство эффективности «Прожито».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20 секунд и затем оставить слайд на экране. Слева реальный QR ведёт прямо в первую историю, адрес проверен 31.08.2026. Справа сейчас честный призыв поговорить с командой. Владелец пришлёт отдельную форму обратной связи позднее: до выставки заменить правый текстовый блок на второй QR и подпись «Обсудить пилот», проверить его и убедиться, что адрес отличается от демо. Форма не создана, пользовательские истории не собираются, неизвестный адрес не подставлен. Перед показом перепроверить обе ссылки и итоговый объём демо.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https://unidentifiedraccoon.github.io/prozhito/#/editorial-v2/section/l01-s01/story (открыто и проверено в браузере 31.08.2026)</a:t>
            </a:r>
          </a:p>
          <a:p xmlns:a="http://schemas.openxmlformats.org/drawingml/2006/main">
            <a:r>
              <a:t>Бриф владельца: две разные ссылки — демо и будущая форма партнёрской обратной связи.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4d38e677943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a24b932b694122" /><Relationship Type="http://schemas.openxmlformats.org/officeDocument/2006/relationships/slideLayout" Target="/ppt/slideLayouts/slideLayout1.xml" Id="R77813a2324a0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813a2324a0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a23e5e07649ce" /><Relationship Type="http://schemas.openxmlformats.org/officeDocument/2006/relationships/image" Target="/ppt/media/image.jpeg" Id="R0fca253ed3814bd3" /><Relationship Type="http://schemas.openxmlformats.org/officeDocument/2006/relationships/notesSlide" Target="/ppt/notesSlides/notesSlide1.xml" Id="R848889d717ac46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c9e10b19f4e38" /><Relationship Type="http://schemas.openxmlformats.org/officeDocument/2006/relationships/image" Target="/ppt/media/image2.jpeg" Id="Rffe158ba495f498d" /><Relationship Type="http://schemas.openxmlformats.org/officeDocument/2006/relationships/notesSlide" Target="/ppt/notesSlides/notesSlide2.xml" Id="Rbd01e29c3e5a47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13785b7004a6f" /><Relationship Type="http://schemas.openxmlformats.org/officeDocument/2006/relationships/image" Target="/ppt/media/image3.jpeg" Id="R99e2e7d117f6472a" /><Relationship Type="http://schemas.openxmlformats.org/officeDocument/2006/relationships/image" Target="/ppt/media/image4.jpeg" Id="R1878f82ab4214b0a" /><Relationship Type="http://schemas.openxmlformats.org/officeDocument/2006/relationships/notesSlide" Target="/ppt/notesSlides/notesSlide3.xml" Id="Rff5a3ac9846947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11d6601d649e9" /><Relationship Type="http://schemas.openxmlformats.org/officeDocument/2006/relationships/image" Target="/ppt/media/image5.jpeg" Id="R6925a87ca02247a5" /><Relationship Type="http://schemas.openxmlformats.org/officeDocument/2006/relationships/image" Target="/ppt/media/image6.jpeg" Id="R177730a71dec4a49" /><Relationship Type="http://schemas.openxmlformats.org/officeDocument/2006/relationships/image" Target="/ppt/media/image7.jpeg" Id="R8b9145704b3446c8" /><Relationship Type="http://schemas.openxmlformats.org/officeDocument/2006/relationships/notesSlide" Target="/ppt/notesSlides/notesSlide4.xml" Id="Re16196c35d994e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6b1dc3f124a30" /><Relationship Type="http://schemas.openxmlformats.org/officeDocument/2006/relationships/image" Target="/ppt/media/image8.jpeg" Id="Re72be7cae02b4951" /><Relationship Type="http://schemas.openxmlformats.org/officeDocument/2006/relationships/notesSlide" Target="/ppt/notesSlides/notesSlide5.xml" Id="Rc151826889cf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4e832a4fd474b" /><Relationship Type="http://schemas.openxmlformats.org/officeDocument/2006/relationships/notesSlide" Target="/ppt/notesSlides/notesSlide6.xml" Id="Re7e72acb4c4345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e446fae5c4900" /><Relationship Type="http://schemas.openxmlformats.org/officeDocument/2006/relationships/image" Target="/ppt/media/image.png" Id="R9554c014292945bd" /><Relationship Type="http://schemas.openxmlformats.org/officeDocument/2006/relationships/hyperlink" Target="https://unidentifiedraccoon.github.io/prozhito/#/editorial-v2/section/l01-s01/story" TargetMode="External" Id="R472c9aa891ea4736" /><Relationship Type="http://schemas.openxmlformats.org/officeDocument/2006/relationships/notesSlide" Target="/ppt/notesSlides/notesSlide7.xml" Id="R108acb19c1c647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a253ed3814bd3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contrast">
            <a:extLst xmlns:a="http://schemas.openxmlformats.org/drawingml/2006/main">
              <a:ext uri="{FF2B5EF4-FFF2-40B4-BE49-F238E27FC236}">
                <a16:creationId xmlns:a16="http://schemas.microsoft.com/office/drawing/2014/main" id="{14AEBA6A-33ED-48CF-9098-5F9157C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A18">
                  <a:alpha val="88000"/>
                </a:srgbClr>
              </a:gs>
              <a:gs pos="57000">
                <a:srgbClr val="101A18">
                  <a:alpha val="45000"/>
                </a:srgbClr>
              </a:gs>
              <a:gs pos="100000">
                <a:srgbClr val="101A1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045709B7-E719-4874-AB78-37AF4CF4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Прожито</a:t>
            </a:r>
          </a:p>
        </p:txBody>
      </p:sp>
      <p:sp>
        <p:nvSpPr>
          <p:cNvPr id="4" name="positioning">
            <a:extLst xmlns:a="http://schemas.openxmlformats.org/drawingml/2006/main">
              <a:ext uri="{FF2B5EF4-FFF2-40B4-BE49-F238E27FC236}">
                <a16:creationId xmlns:a16="http://schemas.microsoft.com/office/drawing/2014/main" id="{DA654617-2532-4AC7-B014-819EBAA8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24000"/>
            <a:ext cx="5334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Финансовые решения</a:t>
            </a:r>
          </a:p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через истории людей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33E169EC-070F-475F-83F8-D693EA72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8103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Новый город.</a:t>
            </a:r>
          </a:p>
          <a:p xmlns:a="http://schemas.openxmlformats.org/drawingml/2006/main">
            <a:pPr algn="l">
              <a:defRPr sz="4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Новая работа.</a:t>
            </a:r>
          </a:p>
          <a:p xmlns:a="http://schemas.openxmlformats.org/drawingml/2006/main">
            <a:pPr algn="l">
              <a:defRPr sz="49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Первые решения.</a:t>
            </a:r>
          </a:p>
        </p:txBody>
      </p:sp>
      <p:sp>
        <p:nvSpPr>
          <p:cNvPr id="6" name="opening-context">
            <a:extLst xmlns:a="http://schemas.openxmlformats.org/drawingml/2006/main">
              <a:ext uri="{FF2B5EF4-FFF2-40B4-BE49-F238E27FC236}">
                <a16:creationId xmlns:a16="http://schemas.microsoft.com/office/drawing/2014/main" id="{7423839C-CC69-4B5D-A2F6-0D57B3D4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72200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История Саши начинается с переезда.</a:t>
            </a:r>
          </a:p>
        </p:txBody>
      </p:sp>
    </p:spTree>
    <p:extLst>
      <p:ext uri="{BB962C8B-B14F-4D97-AF65-F5344CB8AC3E}">
        <p14:creationId xmlns:p14="http://schemas.microsoft.com/office/powerpoint/2010/main" val="1782288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2">
            <a:extLst xmlns:a="http://schemas.openxmlformats.org/drawingml/2006/main">
              <a:ext uri="{FF2B5EF4-FFF2-40B4-BE49-F238E27FC236}">
                <a16:creationId xmlns:a16="http://schemas.microsoft.com/office/drawing/2014/main" id="{C87B1DAA-BBA7-4B30-9CF9-9D6DAD4E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Прожито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3FA12CC3-4ADE-4A78-AA73-44A2E49A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История начинается с одного вопроса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7E2CFDAA-45B1-43F4-BCC1-01D2203A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1"/>
          </a:solidFill>
          <a:ln xmlns:a="http://schemas.openxmlformats.org/drawingml/2006/main" w="0">
            <a:noFill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3E4675A-7040-4E86-9D00-924CB060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4579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158ba495f498d"/>
          <a:srcRect xmlns:a="http://schemas.openxmlformats.org/drawingml/2006/main" l="17547" t="0" r="175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028700"/>
            <a:ext cx="4914900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story-label">
            <a:extLst xmlns:a="http://schemas.openxmlformats.org/drawingml/2006/main">
              <a:ext uri="{FF2B5EF4-FFF2-40B4-BE49-F238E27FC236}">
                <a16:creationId xmlns:a16="http://schemas.microsoft.com/office/drawing/2014/main" id="{3FE1E8B4-884A-4A77-A3C6-7257927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ПЕРВЫЙ МЕСЯЦ</a:t>
            </a:r>
          </a:p>
        </p:txBody>
      </p:sp>
      <p:sp>
        <p:nvSpPr>
          <p:cNvPr id="7" name="tension">
            <a:extLst xmlns:a="http://schemas.openxmlformats.org/drawingml/2006/main">
              <a:ext uri="{FF2B5EF4-FFF2-40B4-BE49-F238E27FC236}">
                <a16:creationId xmlns:a16="http://schemas.microsoft.com/office/drawing/2014/main" id="{EA512521-8E99-4CA6-B7F1-3B65C6E0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7912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382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За комнату — раньше.</a:t>
            </a:r>
          </a:p>
          <a:p xmlns:a="http://schemas.openxmlformats.org/drawingml/2006/main">
            <a:pPr algn="l">
              <a:defRPr sz="382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382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Зарплата — позже.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70E4199C-C4C4-4253-A6B9-FC852ED0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6483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Какими деньгами можно</a:t>
            </a:r>
          </a:p>
          <a:p xmlns:a="http://schemas.openxmlformats.org/drawingml/2006/main">
            <a:pPr algn="l">
              <a:defRPr sz="2475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заплатить к нужной дате?</a:t>
            </a:r>
          </a:p>
        </p:txBody>
      </p:sp>
      <p:sp>
        <p:nvSpPr>
          <p:cNvPr id="9" name="scene-result">
            <a:extLst xmlns:a="http://schemas.openxmlformats.org/drawingml/2006/main">
              <a:ext uri="{FF2B5EF4-FFF2-40B4-BE49-F238E27FC236}">
                <a16:creationId xmlns:a16="http://schemas.microsoft.com/office/drawing/2014/main" id="{4DBDDCCE-6702-4A2C-A2A4-B32AD65A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6292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Саша сравнивает сроки в календаре</a:t>
            </a:r>
          </a:p>
          <a:p xmlns:a="http://schemas.openxmlformats.org/drawingml/2006/main">
            <a:pPr algn="l">
              <a:defRPr sz="2025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и договаривается с хозяйкой</a:t>
            </a:r>
          </a:p>
          <a:p xmlns:a="http://schemas.openxmlformats.org/drawingml/2006/main">
            <a:pPr algn="l">
              <a:defRPr sz="2025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о новой дате оплаты.</a:t>
            </a:r>
          </a:p>
        </p:txBody>
      </p:sp>
    </p:spTree>
    <p:extLst>
      <p:ext uri="{BB962C8B-B14F-4D97-AF65-F5344CB8AC3E}">
        <p14:creationId xmlns:p14="http://schemas.microsoft.com/office/powerpoint/2010/main" val="1413606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-3">
            <a:extLst xmlns:a="http://schemas.openxmlformats.org/drawingml/2006/main">
              <a:ext uri="{FF2B5EF4-FFF2-40B4-BE49-F238E27FC236}">
                <a16:creationId xmlns:a16="http://schemas.microsoft.com/office/drawing/2014/main" id="{3472646E-A102-467A-868D-E7251FA5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Прожито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7A60AA18-3D21-4693-93F9-EA8856FD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Как устроено «Прожито»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C89BE9DE-AD0D-4AE5-9307-A800F46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1"/>
          </a:solidFill>
          <a:ln xmlns:a="http://schemas.openxmlformats.org/drawingml/2006/main" w="0">
            <a:noFill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853F3C56-B03C-49E3-8954-BEFAC44A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4579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sp>
        <p:nvSpPr>
          <p:cNvPr id="5" name="mechanism-title">
            <a:extLst xmlns:a="http://schemas.openxmlformats.org/drawingml/2006/main">
              <a:ext uri="{FF2B5EF4-FFF2-40B4-BE49-F238E27FC236}">
                <a16:creationId xmlns:a16="http://schemas.microsoft.com/office/drawing/2014/main" id="{FECDFF7B-60E6-4C34-A0A0-D4A033FD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245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Прочитать историю.</a:t>
            </a:r>
          </a:p>
          <a:p xmlns:a="http://schemas.openxmlformats.org/drawingml/2006/main">
            <a:pPr algn="l">
              <a:defRPr sz="367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Разобрать решение.</a:t>
            </a:r>
          </a:p>
        </p:txBody>
      </p:sp>
      <p:sp>
        <p:nvSpPr>
          <p:cNvPr id="6" name="story-heading">
            <a:extLst xmlns:a="http://schemas.openxmlformats.org/drawingml/2006/main">
              <a:ext uri="{FF2B5EF4-FFF2-40B4-BE49-F238E27FC236}">
                <a16:creationId xmlns:a16="http://schemas.microsoft.com/office/drawing/2014/main" id="{F73B932A-F3FA-4857-91AE-8BA4258E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История</a:t>
            </a:r>
          </a:p>
        </p:txBody>
      </p:sp>
      <p:sp>
        <p:nvSpPr>
          <p:cNvPr id="7" name="story-body">
            <a:extLst xmlns:a="http://schemas.openxmlformats.org/drawingml/2006/main">
              <a:ext uri="{FF2B5EF4-FFF2-40B4-BE49-F238E27FC236}">
                <a16:creationId xmlns:a16="http://schemas.microsoft.com/office/drawing/2014/main" id="{69C87A44-71E0-479A-B601-6CE8741E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Герой, обстоятельства</a:t>
            </a:r>
          </a:p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и уже произошедшее событие.</a:t>
            </a:r>
          </a:p>
        </p:txBody>
      </p:sp>
      <p:sp>
        <p:nvSpPr>
          <p:cNvPr id="8" name="analysis-heading">
            <a:extLst xmlns:a="http://schemas.openxmlformats.org/drawingml/2006/main">
              <a:ext uri="{FF2B5EF4-FFF2-40B4-BE49-F238E27FC236}">
                <a16:creationId xmlns:a16="http://schemas.microsoft.com/office/drawing/2014/main" id="{22785EF9-C53C-4E5E-8CF1-5F341DA0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Решение</a:t>
            </a:r>
          </a:p>
        </p:txBody>
      </p:sp>
      <p:sp>
        <p:nvSpPr>
          <p:cNvPr id="9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448EDE6C-8160-4C42-93B9-58C32873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5095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Девять звеньев разбора.</a:t>
            </a:r>
          </a:p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Упражнение — по желанию.</a:t>
            </a:r>
          </a:p>
        </p:txBody>
      </p:sp>
      <p:sp>
        <p:nvSpPr>
          <p:cNvPr id="10" name="exercise-caption">
            <a:extLst xmlns:a="http://schemas.openxmlformats.org/drawingml/2006/main">
              <a:ext uri="{FF2B5EF4-FFF2-40B4-BE49-F238E27FC236}">
                <a16:creationId xmlns:a16="http://schemas.microsoft.com/office/drawing/2014/main" id="{EC4B339E-E7BE-4A46-8E6B-B8E67CD4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04900"/>
            <a:ext cx="2324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Упражнение</a:t>
            </a:r>
          </a:p>
        </p:txBody>
      </p:sp>
      <p:sp>
        <p:nvSpPr>
          <p:cNvPr id="11" name="analysis-caption">
            <a:extLst xmlns:a="http://schemas.openxmlformats.org/drawingml/2006/main">
              <a:ext uri="{FF2B5EF4-FFF2-40B4-BE49-F238E27FC236}">
                <a16:creationId xmlns:a16="http://schemas.microsoft.com/office/drawing/2014/main" id="{B5D15C6E-6E7B-4FB6-94E5-E77BF08C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104900"/>
            <a:ext cx="2524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Полный разбор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2e7d117f6472a"/>
          <a:stretch xmlns:a="http://schemas.openxmlformats.org/drawingml/2006/main"/>
        </p:blipFill>
        <p:spPr>
          <a:xfrm xmlns:a="http://schemas.openxmlformats.org/drawingml/2006/main">
            <a:off x="6496208" y="1581150"/>
            <a:ext cx="2209484" cy="47815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8f82ab4214b0a"/>
          <a:stretch xmlns:a="http://schemas.openxmlformats.org/drawingml/2006/main"/>
        </p:blipFill>
        <p:spPr>
          <a:xfrm xmlns:a="http://schemas.openxmlformats.org/drawingml/2006/main">
            <a:off x="9058433" y="1581150"/>
            <a:ext cx="2209484" cy="4781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99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-4">
            <a:extLst xmlns:a="http://schemas.openxmlformats.org/drawingml/2006/main">
              <a:ext uri="{FF2B5EF4-FFF2-40B4-BE49-F238E27FC236}">
                <a16:creationId xmlns:a16="http://schemas.microsoft.com/office/drawing/2014/main" id="{F667816E-9AAF-463E-9BCE-D35C241E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Прожито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919C4DD7-324E-44F6-B156-BCDA2DE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Реальные экраны приложения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F5C8C6AF-D3F8-481B-A3CF-DCBF4BE6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1"/>
          </a:solidFill>
          <a:ln xmlns:a="http://schemas.openxmlformats.org/drawingml/2006/main" w="0">
            <a:noFill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C9F589E-496B-4A4C-94C1-AE35611E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4579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5" name="first-month-title">
            <a:extLst xmlns:a="http://schemas.openxmlformats.org/drawingml/2006/main">
              <a:ext uri="{FF2B5EF4-FFF2-40B4-BE49-F238E27FC236}">
                <a16:creationId xmlns:a16="http://schemas.microsoft.com/office/drawing/2014/main" id="{96206F98-D8AA-461B-9CEB-10B10C70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Первый месяц — три истории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5a87ca02247a5"/>
          <a:stretch xmlns:a="http://schemas.openxmlformats.org/drawingml/2006/main"/>
        </p:blipFill>
        <p:spPr>
          <a:xfrm xmlns:a="http://schemas.openxmlformats.org/drawingml/2006/main">
            <a:off x="1067816" y="2000250"/>
            <a:ext cx="1998219" cy="4324350"/>
          </a:xfrm>
          <a:prstGeom xmlns:a="http://schemas.openxmlformats.org/drawingml/2006/main" prst="rect">
            <a:avLst/>
          </a:prstGeom>
        </p:spPr>
      </p:pic>
      <p:sp>
        <p:nvSpPr>
          <p:cNvPr id="7" name="screen-caption-0">
            <a:extLst xmlns:a="http://schemas.openxmlformats.org/drawingml/2006/main">
              <a:ext uri="{FF2B5EF4-FFF2-40B4-BE49-F238E27FC236}">
                <a16:creationId xmlns:a16="http://schemas.microsoft.com/office/drawing/2014/main" id="{0ADC94F5-8599-4175-8B2F-10F815C5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3467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Деньги и сроки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30a71dec4a49"/>
          <a:stretch xmlns:a="http://schemas.openxmlformats.org/drawingml/2006/main"/>
        </p:blipFill>
        <p:spPr>
          <a:xfrm xmlns:a="http://schemas.openxmlformats.org/drawingml/2006/main">
            <a:off x="5011166" y="2000250"/>
            <a:ext cx="1998219" cy="4324350"/>
          </a:xfrm>
          <a:prstGeom xmlns:a="http://schemas.openxmlformats.org/drawingml/2006/main" prst="rect">
            <a:avLst/>
          </a:prstGeom>
        </p:spPr>
      </p:pic>
      <p:sp>
        <p:nvSpPr>
          <p:cNvPr id="9" name="screen-caption-1">
            <a:extLst xmlns:a="http://schemas.openxmlformats.org/drawingml/2006/main">
              <a:ext uri="{FF2B5EF4-FFF2-40B4-BE49-F238E27FC236}">
                <a16:creationId xmlns:a16="http://schemas.microsoft.com/office/drawing/2014/main" id="{DA8C0EB0-8684-4084-9018-54AB3A5E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28775"/>
            <a:ext cx="3467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Пауза перед «срочно»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145704b3446c8"/>
          <a:stretch xmlns:a="http://schemas.openxmlformats.org/drawingml/2006/main"/>
        </p:blipFill>
        <p:spPr>
          <a:xfrm xmlns:a="http://schemas.openxmlformats.org/drawingml/2006/main">
            <a:off x="8954516" y="2000250"/>
            <a:ext cx="1998219" cy="4324350"/>
          </a:xfrm>
          <a:prstGeom xmlns:a="http://schemas.openxmlformats.org/drawingml/2006/main" prst="rect">
            <a:avLst/>
          </a:prstGeom>
        </p:spPr>
      </p:pic>
      <p:sp>
        <p:nvSpPr>
          <p:cNvPr id="11" name="screen-caption-2">
            <a:extLst xmlns:a="http://schemas.openxmlformats.org/drawingml/2006/main">
              <a:ext uri="{FF2B5EF4-FFF2-40B4-BE49-F238E27FC236}">
                <a16:creationId xmlns:a16="http://schemas.microsoft.com/office/drawing/2014/main" id="{6AB0ECBB-4BC2-4DDD-BAFA-19070D2C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28775"/>
            <a:ext cx="3467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Черновик бюджета</a:t>
            </a:r>
          </a:p>
        </p:txBody>
      </p:sp>
    </p:spTree>
    <p:extLst>
      <p:ext uri="{BB962C8B-B14F-4D97-AF65-F5344CB8AC3E}">
        <p14:creationId xmlns:p14="http://schemas.microsoft.com/office/powerpoint/2010/main" val="1559004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-5">
            <a:extLst xmlns:a="http://schemas.openxmlformats.org/drawingml/2006/main">
              <a:ext uri="{FF2B5EF4-FFF2-40B4-BE49-F238E27FC236}">
                <a16:creationId xmlns:a16="http://schemas.microsoft.com/office/drawing/2014/main" id="{BD22A16B-A2BE-490D-9985-024E8B45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Прожито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5B451F32-DC0E-4532-BCF5-AA470D67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Масштаб проекта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AD1BFE78-55AF-4F02-BB35-8A2E4F49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1"/>
          </a:solidFill>
          <a:ln xmlns:a="http://schemas.openxmlformats.org/drawingml/2006/main" w="0">
            <a:noFill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7D7B7D9-D2B2-4458-A969-DAB679C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4579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5" name="scope-title">
            <a:extLst xmlns:a="http://schemas.openxmlformats.org/drawingml/2006/main">
              <a:ext uri="{FF2B5EF4-FFF2-40B4-BE49-F238E27FC236}">
                <a16:creationId xmlns:a16="http://schemas.microsoft.com/office/drawing/2014/main" id="{489B5A34-76AC-4FA2-AF7D-A663F111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427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Редакционное демо</a:t>
            </a:r>
          </a:p>
        </p:txBody>
      </p:sp>
      <p:sp>
        <p:nvSpPr>
          <p:cNvPr id="6" name="six">
            <a:extLst xmlns:a="http://schemas.openxmlformats.org/drawingml/2006/main">
              <a:ext uri="{FF2B5EF4-FFF2-40B4-BE49-F238E27FC236}">
                <a16:creationId xmlns:a16="http://schemas.microsoft.com/office/drawing/2014/main" id="{4B81F36C-115C-4130-AD26-5E23D0A1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4001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8700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7" name="levels-label">
            <a:extLst xmlns:a="http://schemas.openxmlformats.org/drawingml/2006/main">
              <a:ext uri="{FF2B5EF4-FFF2-40B4-BE49-F238E27FC236}">
                <a16:creationId xmlns:a16="http://schemas.microsoft.com/office/drawing/2014/main" id="{4334F73C-38A1-425A-9665-B9E7EF4F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955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5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522"/>
                </a:solidFill>
                <a:latin typeface="Arial"/>
                <a:ea typeface="Arial"/>
                <a:cs typeface="Arial"/>
              </a:rPr>
              <a:t>уровней</a:t>
            </a:r>
          </a:p>
        </p:txBody>
      </p:sp>
      <p:sp>
        <p:nvSpPr>
          <p:cNvPr id="8" name="twentytwo">
            <a:extLst xmlns:a="http://schemas.openxmlformats.org/drawingml/2006/main">
              <a:ext uri="{FF2B5EF4-FFF2-40B4-BE49-F238E27FC236}">
                <a16:creationId xmlns:a16="http://schemas.microsoft.com/office/drawing/2014/main" id="{CF576D9F-6744-41FA-A37E-374FBBAF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943100"/>
            <a:ext cx="1857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8700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9" name="sections-label">
            <a:extLst xmlns:a="http://schemas.openxmlformats.org/drawingml/2006/main">
              <a:ext uri="{FF2B5EF4-FFF2-40B4-BE49-F238E27FC236}">
                <a16:creationId xmlns:a16="http://schemas.microsoft.com/office/drawing/2014/main" id="{A580BE75-420F-49FE-B06D-3459D774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95575"/>
            <a:ext cx="1333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5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522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10" name="level-number-0">
            <a:extLst xmlns:a="http://schemas.openxmlformats.org/drawingml/2006/main">
              <a:ext uri="{FF2B5EF4-FFF2-40B4-BE49-F238E27FC236}">
                <a16:creationId xmlns:a16="http://schemas.microsoft.com/office/drawing/2014/main" id="{3CAF18DC-7EC6-411A-858E-CD0B21BB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level-name-0">
            <a:extLst xmlns:a="http://schemas.openxmlformats.org/drawingml/2006/main">
              <a:ext uri="{FF2B5EF4-FFF2-40B4-BE49-F238E27FC236}">
                <a16:creationId xmlns:a16="http://schemas.microsoft.com/office/drawing/2014/main" id="{C948B785-AA54-4456-8458-99FE4122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5781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Первый месяц</a:t>
            </a:r>
          </a:p>
        </p:txBody>
      </p:sp>
      <p:sp>
        <p:nvSpPr>
          <p:cNvPr id="12" name="level-number-1">
            <a:extLst xmlns:a="http://schemas.openxmlformats.org/drawingml/2006/main">
              <a:ext uri="{FF2B5EF4-FFF2-40B4-BE49-F238E27FC236}">
                <a16:creationId xmlns:a16="http://schemas.microsoft.com/office/drawing/2014/main" id="{37C21633-A918-4B64-BB1B-0139C727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level-name-1">
            <a:extLst xmlns:a="http://schemas.openxmlformats.org/drawingml/2006/main">
              <a:ext uri="{FF2B5EF4-FFF2-40B4-BE49-F238E27FC236}">
                <a16:creationId xmlns:a16="http://schemas.microsoft.com/office/drawing/2014/main" id="{581BEC53-2B33-4D00-89AF-9D6EAEBD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76675"/>
            <a:ext cx="5781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План с запасом</a:t>
            </a:r>
          </a:p>
        </p:txBody>
      </p:sp>
      <p:sp>
        <p:nvSpPr>
          <p:cNvPr id="14" name="level-number-2">
            <a:extLst xmlns:a="http://schemas.openxmlformats.org/drawingml/2006/main">
              <a:ext uri="{FF2B5EF4-FFF2-40B4-BE49-F238E27FC236}">
                <a16:creationId xmlns:a16="http://schemas.microsoft.com/office/drawing/2014/main" id="{9E76978A-4601-45A0-B466-730DA9C9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level-name-2">
            <a:extLst xmlns:a="http://schemas.openxmlformats.org/drawingml/2006/main">
              <a:ext uri="{FF2B5EF4-FFF2-40B4-BE49-F238E27FC236}">
                <a16:creationId xmlns:a16="http://schemas.microsoft.com/office/drawing/2014/main" id="{E84FAA7E-B6D3-42E4-975E-1766F681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5781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Выбирать по своим критериям</a:t>
            </a:r>
          </a:p>
        </p:txBody>
      </p:sp>
      <p:sp>
        <p:nvSpPr>
          <p:cNvPr id="16" name="level-number-3">
            <a:extLst xmlns:a="http://schemas.openxmlformats.org/drawingml/2006/main">
              <a:ext uri="{FF2B5EF4-FFF2-40B4-BE49-F238E27FC236}">
                <a16:creationId xmlns:a16="http://schemas.microsoft.com/office/drawing/2014/main" id="{065DC5AB-91DF-496B-8FB0-34A0A0ED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level-name-3">
            <a:extLst xmlns:a="http://schemas.openxmlformats.org/drawingml/2006/main">
              <a:ext uri="{FF2B5EF4-FFF2-40B4-BE49-F238E27FC236}">
                <a16:creationId xmlns:a16="http://schemas.microsoft.com/office/drawing/2014/main" id="{1649FA58-E500-4F7A-ABDB-08D3096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33925"/>
            <a:ext cx="5781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Действовать по порядку</a:t>
            </a:r>
          </a:p>
        </p:txBody>
      </p:sp>
      <p:sp>
        <p:nvSpPr>
          <p:cNvPr id="18" name="level-number-4">
            <a:extLst xmlns:a="http://schemas.openxmlformats.org/drawingml/2006/main">
              <a:ext uri="{FF2B5EF4-FFF2-40B4-BE49-F238E27FC236}">
                <a16:creationId xmlns:a16="http://schemas.microsoft.com/office/drawing/2014/main" id="{4B3582D5-096F-4742-98FF-76B07B4D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level-name-4">
            <a:extLst xmlns:a="http://schemas.openxmlformats.org/drawingml/2006/main">
              <a:ext uri="{FF2B5EF4-FFF2-40B4-BE49-F238E27FC236}">
                <a16:creationId xmlns:a16="http://schemas.microsoft.com/office/drawing/2014/main" id="{1B2EB95A-DF83-4E16-B6F8-43AE1F5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5781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Проверить идею до запуска</a:t>
            </a:r>
          </a:p>
        </p:txBody>
      </p:sp>
      <p:sp>
        <p:nvSpPr>
          <p:cNvPr id="20" name="level-number-5">
            <a:extLst xmlns:a="http://schemas.openxmlformats.org/drawingml/2006/main">
              <a:ext uri="{FF2B5EF4-FFF2-40B4-BE49-F238E27FC236}">
                <a16:creationId xmlns:a16="http://schemas.microsoft.com/office/drawing/2014/main" id="{C45D2714-5E57-4A07-B140-B6F721A2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5D6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level-name-5">
            <a:extLst xmlns:a="http://schemas.openxmlformats.org/drawingml/2006/main">
              <a:ext uri="{FF2B5EF4-FFF2-40B4-BE49-F238E27FC236}">
                <a16:creationId xmlns:a16="http://schemas.microsoft.com/office/drawing/2014/main" id="{0DD60047-F21F-4AF2-A225-41BCF4C5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91175"/>
            <a:ext cx="5781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Не решать за другого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be7cae02b4951"/>
          <a:srcRect xmlns:a="http://schemas.openxmlformats.org/drawingml/2006/main" l="18388" t="0" r="18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2009775"/>
            <a:ext cx="3848100" cy="4057650"/>
          </a:xfrm>
          <a:prstGeom xmlns:a="http://schemas.openxmlformats.org/drawingml/2006/main" prst="rect">
            <a:avLst/>
          </a:prstGeom>
        </p:spPr>
      </p:pic>
      <p:sp>
        <p:nvSpPr>
          <p:cNvPr id="23" name="section-definition">
            <a:extLst xmlns:a="http://schemas.openxmlformats.org/drawingml/2006/main">
              <a:ext uri="{FF2B5EF4-FFF2-40B4-BE49-F238E27FC236}">
                <a16:creationId xmlns:a16="http://schemas.microsoft.com/office/drawing/2014/main" id="{08014D62-38B4-4E05-B644-004F8F6F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Section — история и разбор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886014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6">
            <a:extLst xmlns:a="http://schemas.openxmlformats.org/drawingml/2006/main">
              <a:ext uri="{FF2B5EF4-FFF2-40B4-BE49-F238E27FC236}">
                <a16:creationId xmlns:a16="http://schemas.microsoft.com/office/drawing/2014/main" id="{E45457F8-2261-49BA-AF82-9589092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Прожито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710EF3A5-5013-4D3C-81AA-C260BF63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Сценарии для совместного пилота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0943C8D0-39D1-4931-B344-007702FD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1"/>
          </a:solidFill>
          <a:ln xmlns:a="http://schemas.openxmlformats.org/drawingml/2006/main" w="0">
            <a:noFill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4CF2F5E2-6CEF-4026-B310-45421763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4579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5" name="partner-title">
            <a:extLst xmlns:a="http://schemas.openxmlformats.org/drawingml/2006/main">
              <a:ext uri="{FF2B5EF4-FFF2-40B4-BE49-F238E27FC236}">
                <a16:creationId xmlns:a16="http://schemas.microsoft.com/office/drawing/2014/main" id="{A00D7E19-464A-49F4-98E6-0825BEA7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Формат для финансового просвещения</a:t>
            </a:r>
          </a:p>
        </p:txBody>
      </p:sp>
      <p:sp>
        <p:nvSpPr>
          <p:cNvPr id="6" name="finance-heading">
            <a:extLst xmlns:a="http://schemas.openxmlformats.org/drawingml/2006/main">
              <a:ext uri="{FF2B5EF4-FFF2-40B4-BE49-F238E27FC236}">
                <a16:creationId xmlns:a16="http://schemas.microsoft.com/office/drawing/2014/main" id="{79CE6F6C-BF6F-4898-8B42-2A74DF94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400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Финансовым организациям</a:t>
            </a:r>
          </a:p>
        </p:txBody>
      </p:sp>
      <p:sp>
        <p:nvSpPr>
          <p:cNvPr id="7" name="finance-body">
            <a:extLst xmlns:a="http://schemas.openxmlformats.org/drawingml/2006/main">
              <a:ext uri="{FF2B5EF4-FFF2-40B4-BE49-F238E27FC236}">
                <a16:creationId xmlns:a16="http://schemas.microsoft.com/office/drawing/2014/main" id="{191388F8-747F-4430-A234-70F09EFD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419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Истории о первых доходах и платежах</a:t>
            </a:r>
          </a:p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в просветительских программах.</a:t>
            </a:r>
          </a:p>
        </p:txBody>
      </p:sp>
      <p:sp>
        <p:nvSpPr>
          <p:cNvPr id="8" name="education-heading">
            <a:extLst xmlns:a="http://schemas.openxmlformats.org/drawingml/2006/main">
              <a:ext uri="{FF2B5EF4-FFF2-40B4-BE49-F238E27FC236}">
                <a16:creationId xmlns:a16="http://schemas.microsoft.com/office/drawing/2014/main" id="{81F7955C-81A2-43CA-AA9B-6FF7C645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010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Образовательным организациям</a:t>
            </a:r>
          </a:p>
        </p:txBody>
      </p:sp>
      <p:sp>
        <p:nvSpPr>
          <p:cNvPr id="9" name="education-body">
            <a:extLst xmlns:a="http://schemas.openxmlformats.org/drawingml/2006/main">
              <a:ext uri="{FF2B5EF4-FFF2-40B4-BE49-F238E27FC236}">
                <a16:creationId xmlns:a16="http://schemas.microsoft.com/office/drawing/2014/main" id="{6CA79A6B-3E00-4C09-BE4F-B3ADB7D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5010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История и разбор как материал</a:t>
            </a:r>
          </a:p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для занятия и обсуждения.</a:t>
            </a:r>
          </a:p>
        </p:txBody>
      </p:sp>
      <p:sp>
        <p:nvSpPr>
          <p:cNvPr id="10" name="partner-divider">
            <a:extLst xmlns:a="http://schemas.openxmlformats.org/drawingml/2006/main">
              <a:ext uri="{FF2B5EF4-FFF2-40B4-BE49-F238E27FC236}">
                <a16:creationId xmlns:a16="http://schemas.microsoft.com/office/drawing/2014/main" id="{D2B32D5B-0796-48FD-B1DE-14612BD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1"/>
          </a:solidFill>
          <a:ln xmlns:a="http://schemas.openxmlformats.org/drawingml/2006/main" w="0">
            <a:noFill/>
          </a:ln>
        </p:spPr>
      </p:sp>
      <p:sp>
        <p:nvSpPr>
          <p:cNvPr id="11" name="pilot-title">
            <a:extLst xmlns:a="http://schemas.openxmlformats.org/drawingml/2006/main">
              <a:ext uri="{FF2B5EF4-FFF2-40B4-BE49-F238E27FC236}">
                <a16:creationId xmlns:a16="http://schemas.microsoft.com/office/drawing/2014/main" id="{B635D34A-DA93-40D0-9328-9CA32E5F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Давайте проверим формат на вашей аудитории.</a:t>
            </a:r>
          </a:p>
        </p:txBody>
      </p:sp>
      <p:sp>
        <p:nvSpPr>
          <p:cNvPr id="12" name="pilot-steps">
            <a:extLst xmlns:a="http://schemas.openxmlformats.org/drawingml/2006/main">
              <a:ext uri="{FF2B5EF4-FFF2-40B4-BE49-F238E27FC236}">
                <a16:creationId xmlns:a16="http://schemas.microsoft.com/office/drawing/2014/main" id="{F53ACF4A-787F-4E75-BA31-B67B20E1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Выберем ситуацию и формат знакомства.</a:t>
            </a:r>
          </a:p>
          <a:p xmlns:a="http://schemas.openxmlformats.org/drawingml/2006/main">
            <a:pPr algn="l">
              <a:defRPr sz="210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Заранее договоримся, что хотим узнать по итогам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18960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-7">
            <a:extLst xmlns:a="http://schemas.openxmlformats.org/drawingml/2006/main">
              <a:ext uri="{FF2B5EF4-FFF2-40B4-BE49-F238E27FC236}">
                <a16:creationId xmlns:a16="http://schemas.microsoft.com/office/drawing/2014/main" id="{CAD8EED3-3285-4337-B48E-F8D6EF90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Прожито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BD568A0B-4AB4-4C86-BAC0-CE924C1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Попробуйте на стенде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D10F6F0E-5B15-41D8-BF4C-A04C4155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1"/>
          </a:solidFill>
          <a:ln xmlns:a="http://schemas.openxmlformats.org/drawingml/2006/main" w="0">
            <a:noFill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B950EB4E-E5C8-44B6-BF05-EEA8B92F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4579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5" name="cta-title">
            <a:extLst xmlns:a="http://schemas.openxmlformats.org/drawingml/2006/main">
              <a:ext uri="{FF2B5EF4-FFF2-40B4-BE49-F238E27FC236}">
                <a16:creationId xmlns:a16="http://schemas.microsoft.com/office/drawing/2014/main" id="{96AE4C9B-5A71-45C8-9396-2C8B5A48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Познакомимся с «Прожито»?</a:t>
            </a:r>
          </a:p>
        </p:txBody>
      </p:sp>
      <p:sp>
        <p:nvSpPr>
          <p:cNvPr id="6" name="reader-title">
            <a:extLst xmlns:a="http://schemas.openxmlformats.org/drawingml/2006/main">
              <a:ext uri="{FF2B5EF4-FFF2-40B4-BE49-F238E27FC236}">
                <a16:creationId xmlns:a16="http://schemas.microsoft.com/office/drawing/2014/main" id="{11238FF3-283B-44C5-BDE3-EB63B93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Откройте первую историю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4c014292945bd"/>
          <a:stretch xmlns:a="http://schemas.openxmlformats.org/drawingml/2006/main"/>
        </p:blipFill>
        <p:spPr>
          <a:xfrm xmlns:a="http://schemas.openxmlformats.org/drawingml/2006/main">
            <a:off x="619125" y="3086100"/>
            <a:ext cx="2724150" cy="2724150"/>
          </a:xfrm>
          <a:prstGeom xmlns:a="http://schemas.openxmlformats.org/drawingml/2006/main" prst="rect">
            <a:avLst/>
          </a:prstGeom>
        </p:spPr>
      </p:pic>
      <p:sp>
        <p:nvSpPr>
          <p:cNvPr id="8" name="reader-body">
            <a:extLst xmlns:a="http://schemas.openxmlformats.org/drawingml/2006/main">
              <a:ext uri="{FF2B5EF4-FFF2-40B4-BE49-F238E27FC236}">
                <a16:creationId xmlns:a16="http://schemas.microsoft.com/office/drawing/2014/main" id="{D9A629C2-F645-4678-AD9E-639A080F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09950"/>
            <a:ext cx="24098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На своём телефоне</a:t>
            </a:r>
          </a:p>
          <a:p xmlns:a="http://schemas.openxmlformats.org/drawingml/2006/main">
            <a:pPr algn="l">
              <a:defRPr sz="2025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или устройстве</a:t>
            </a:r>
          </a:p>
          <a:p xmlns:a="http://schemas.openxmlformats.org/drawingml/2006/main">
            <a:pPr algn="l">
              <a:defRPr sz="2025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на стенде.</a:t>
            </a:r>
          </a:p>
        </p:txBody>
      </p:sp>
      <p:sp>
        <p:nvSpPr>
          <p:cNvPr id="9" name="reader-link">
            <a:extLst xmlns:a="http://schemas.openxmlformats.org/drawingml/2006/main">
              <a:ext uri="{FF2B5EF4-FFF2-40B4-BE49-F238E27FC236}">
                <a16:creationId xmlns:a16="http://schemas.microsoft.com/office/drawing/2014/main" id="{57BAABAE-985C-4748-B40B-678724C7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5D6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5D65"/>
                </a:solidFill>
                <a:latin typeface="Arial"/>
                <a:ea typeface="Arial"/>
                <a:cs typeface="Arial"/>
                <a:hlinkClick xmlns:r="http://schemas.openxmlformats.org/officeDocument/2006/relationships" r:id="R472c9aa891ea4736"/>
              </a:rPr>
              <a:t>Открыть демо</a:t>
            </a:r>
          </a:p>
        </p:txBody>
      </p:sp>
      <p:sp>
        <p:nvSpPr>
          <p:cNvPr id="10" name="cta-divider">
            <a:extLst xmlns:a="http://schemas.openxmlformats.org/drawingml/2006/main">
              <a:ext uri="{FF2B5EF4-FFF2-40B4-BE49-F238E27FC236}">
                <a16:creationId xmlns:a16="http://schemas.microsoft.com/office/drawing/2014/main" id="{30F0AF59-B1A3-493F-BB83-91472F92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9525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1"/>
          </a:solidFill>
          <a:ln xmlns:a="http://schemas.openxmlformats.org/drawingml/2006/main" w="0">
            <a:noFill/>
          </a:ln>
        </p:spPr>
      </p:sp>
      <p:sp>
        <p:nvSpPr>
          <p:cNvPr id="11" name="partner-cta-title">
            <a:extLst xmlns:a="http://schemas.openxmlformats.org/drawingml/2006/main">
              <a:ext uri="{FF2B5EF4-FFF2-40B4-BE49-F238E27FC236}">
                <a16:creationId xmlns:a16="http://schemas.microsoft.com/office/drawing/2014/main" id="{E027768B-9A16-45F7-8399-45A155C2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38375"/>
            <a:ext cx="4781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5D65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245D65"/>
                </a:solidFill>
                <a:latin typeface="Georgia"/>
                <a:ea typeface="Georgia"/>
                <a:cs typeface="Georgia"/>
              </a:rPr>
              <a:t>Обсудим пилот</a:t>
            </a:r>
          </a:p>
        </p:txBody>
      </p:sp>
      <p:sp>
        <p:nvSpPr>
          <p:cNvPr id="12" name="partner-cta-body">
            <a:extLst xmlns:a="http://schemas.openxmlformats.org/drawingml/2006/main">
              <a:ext uri="{FF2B5EF4-FFF2-40B4-BE49-F238E27FC236}">
                <a16:creationId xmlns:a16="http://schemas.microsoft.com/office/drawing/2014/main" id="{92695F40-BB13-41ED-BFE8-955FAED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Для финансовых</a:t>
            </a:r>
          </a:p>
          <a:p xmlns:a="http://schemas.openxmlformats.org/drawingml/2006/main">
            <a:pPr algn="l">
              <a:defRPr sz="247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и образовательных</a:t>
            </a:r>
          </a:p>
          <a:p xmlns:a="http://schemas.openxmlformats.org/drawingml/2006/main">
            <a:pPr algn="l">
              <a:defRPr sz="2475" b="0">
                <a:solidFill>
                  <a:srgbClr val="202522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202522"/>
                </a:solidFill>
                <a:latin typeface="Georgia"/>
                <a:ea typeface="Georgia"/>
                <a:cs typeface="Georgia"/>
              </a:rPr>
              <a:t>организаций.</a:t>
            </a:r>
          </a:p>
        </p:txBody>
      </p:sp>
      <p:sp>
        <p:nvSpPr>
          <p:cNvPr id="13" name="partner-contact">
            <a:extLst xmlns:a="http://schemas.openxmlformats.org/drawingml/2006/main">
              <a:ext uri="{FF2B5EF4-FFF2-40B4-BE49-F238E27FC236}">
                <a16:creationId xmlns:a16="http://schemas.microsoft.com/office/drawing/2014/main" id="{2C6C5452-91BD-451E-829A-63CC55F8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29225"/>
            <a:ext cx="4781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Подойдите к команде на стенде:</a:t>
            </a:r>
          </a:p>
          <a:p xmlns:a="http://schemas.openxmlformats.org/drawingml/2006/main">
            <a:pPr algn="l">
              <a:defRPr sz="1950" b="0">
                <a:solidFill>
                  <a:srgbClr val="343B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B37"/>
                </a:solidFill>
                <a:latin typeface="Arial"/>
                <a:ea typeface="Arial"/>
                <a:cs typeface="Arial"/>
              </a:rPr>
              <a:t>вместе выберем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157006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2026-08-30T21:24:21.1200000Z</dcterms:created>
  <dcterms:modified xsi:type="dcterms:W3CDTF">2026-08-30T21:24:21.1200000Z</dcterms:modified>
</coreProperties>
</file>