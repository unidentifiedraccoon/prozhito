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Открытие: «Прожито» — веб-приложение с авторским подходом к осмыслению финансовых решений. Основной акцент — видеть связи между звеньями решения. На обложке9 шагов по текущей методологии; дополнительный10-й шаг не задан. Крупное изображение — редакционная иллюстрация проекта, не документальная фотография.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docs/PRODUCT.md; docs/METHODOLOGY.md; docs/DECISIONS.md, решение35. Проверено31.08.2026.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Изображение: src/apps/editorial-v2/assets/level-01/l01-s01-story-v1.jpg. Унаследовано из предыдущей презентации пользователя.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Дизайн: editorial_v2 / EditorialTheme.module.css; старая Google Slides обложка p1.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Пользовательская ценность сформулирована через доступные действия чтения и разбора. Это не обещание гарантированного формирования навыка, привычки или изменения финансового поведения. Упражнение добровольное; полный разбор доступен без ответов.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docs/PRODUCT.md; docs/METHODOLOGY.md; docs/EDITORIAL_V2.md. Проверено31.08.2026.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Иллюстрация: src/apps/editorial-v2/assets/level-01/l01-s01-calendar-detail-v1.jpg; исходный media-slot p2_i14 сохранён.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Монтаж экрана: Imagegen, 31.08.2026; производная иллюстрация output/presentations/assets/prozhito-article-phone-v1.png. Источник экрана — реальный мобильный screenshot статьи «Деньги к нужной дате» из текущего приложения: https://unidentifiedraccoon.github.io/prozhito/#/editorial-v2/section/l01-s01/story . Заголовок и видимые абзацы сверены со скриншотом. Текст слайда согласован с владельцем 31.08.2026: заголовок о понимании себя и разумных финансовых решениях; три направления — что нами движет, как действовать при неопределённости, как подготовиться и снизить риски. Это позиционирование подхода, не утверждение о доказанном изменении поведения.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смысловой блок: девять последовательных кадров. При каждом переходе появляется следующее звено, прежние остаются на круге. Пауза предшествует риску. Круг — порядок рассмотрения решения, не обязательная хронология девяти мыслей. Риск — возможное последствие выбора; осознание — подтверждённый сценой вывод. В истории решение может принадлежать Саше или другому участнику; разбор сохраняет владельца.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Документация проекта «Прожито»: docs/DECISIONS.md, решение36; docs/METHODOLOGY.md. Редакция31.08.2026.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43" name="Google Shape;4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circle36_frame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circle36_frame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смысловой блок: девять последовательных кадров. При каждом переходе появляется следующее звено, прежние остаются на круге. Пауза предшествует риску. Круг — порядок рассмотрения решения, не обязательная хронология девяти мыслей. Риск — возможное последствие выбора; осознание — подтверждённый сценой вывод. В истории решение может принадлежать Саше или другому участнику; разбор сохраняет владельца.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Документация проекта «Прожито»: docs/DECISIONS.md, решение36; docs/METHODOLOGY.md. Редакция31.08.2026.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130" name="Google Shape;130;circle36_frame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circle36_frame_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circle36_frame_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смысловой блок: девять последовательных кадров. При каждом переходе появляется следующее звено, прежние остаются на круге. Пауза предшествует риску. Круг — порядок рассмотрения решения, не обязательная хронология девяти мыслей. Риск — возможное последствие выбора; осознание — подтверждённый сценой вывод. В истории решение может принадлежать Саше или другому участнику; разбор сохраняет владельца.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Документация проекта «Прожито»: docs/DECISIONS.md, решение36; docs/METHODOLOGY.md. Редакция31.08.2026.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218" name="Google Shape;218;circle36_frame_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circle36_frame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circle36_frame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смысловой блок: девять последовательных кадров. При каждом переходе появляется следующее звено, прежние остаются на круге. Пауза предшествует риску. Круг — порядок рассмотрения решения, не обязательная хронология девяти мыслей. Риск — возможное последствие выбора; осознание — подтверждённый сценой вывод. В истории решение может принадлежать Саше или другому участнику; разбор сохраняет владельца.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Документация проекта «Прожито»: docs/DECISIONS.md, решение36; docs/METHODOLOGY.md. Редакция31.08.2026.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307" name="Google Shape;307;circle36_frame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circle36_frame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circle36_frame_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смысловой блок: девять последовательных кадров. При каждом переходе появляется следующее звено, прежние остаются на круге. Пауза предшествует риску. Круг — порядок рассмотрения решения, не обязательная хронология девяти мыслей. Риск — возможное последствие выбора; осознание — подтверждённый сценой вывод. В истории решение может принадлежать Саше или другому участнику; разбор сохраняет владельца.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Документация проекта «Прожито»: docs/DECISIONS.md, решение36; docs/METHODOLOGY.md. Редакция31.08.2026.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397" name="Google Shape;397;circle36_frame_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circle36_frame_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7" name="Google Shape;487;circle36_frame_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смысловой блок: девять последовательных кадров. При каждом переходе появляется следующее звено, прежние остаются на круге. Пауза предшествует риску. Круг — порядок рассмотрения решения, не обязательная хронология девяти мыслей. Риск — возможное последствие выбора; осознание — подтверждённый сценой вывод. В истории решение может принадлежать Саше или другому участнику; разбор сохраняет владельца.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Документация проекта «Прожито»: docs/DECISIONS.md, решение36; docs/METHODOLOGY.md. Редакция31.08.2026.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488" name="Google Shape;488;circle36_frame_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circle36_frame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circle36_frame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смысловой блок: девять последовательных кадров. При каждом переходе появляется следующее звено, прежние остаются на круге. Пауза предшествует риску. Круг — порядок рассмотрения решения, не обязательная хронология девяти мыслей. Риск — возможное последствие выбора; осознание — подтверждённый сценой вывод. В истории решение может принадлежать Саше или другому участнику; разбор сохраняет владельца.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Документация проекта «Прожито»: docs/DECISIONS.md, решение36; docs/METHODOLOGY.md. Редакция31.08.2026.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580" name="Google Shape;580;circle36_frame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circle36_frame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2" name="Google Shape;672;circle36_frame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смысловой блок: девять последовательных кадров. При каждом переходе появляется следующее звено, прежние остаются на круге. Пауза предшествует риску. Круг — порядок рассмотрения решения, не обязательная хронология девяти мыслей. Риск — возможное последствие выбора; осознание — подтверждённый сценой вывод. В истории решение может принадлежать Саше или другому участнику; разбор сохраняет владельца.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Документация проекта «Прожито»: docs/DECISIONS.md, решение36; docs/METHODOLOGY.md. Редакция31.08.2026.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673" name="Google Shape;673;circle36_frame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circle36_frame_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6" name="Google Shape;766;circle36_frame_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Третий смысловой блок: девять последовательных кадров. При каждом переходе появляется следующее звено, прежние остаются на круге. Пауза предшествует риску. Круг — порядок рассмотрения решения, не обязательная хронология девяти мыслей. Риск — возможное последствие выбора; осознание — подтверждённый сценой вывод. В истории решение может принадлежать Саше или другому участнику; разбор сохраняет владельца.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Документация проекта «Прожито»: docs/DECISIONS.md, решение36; docs/METHODOLOGY.md. Редакция31.08.2026.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767" name="Google Shape;767;circle36_frame_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v3_foundations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1" name="Google Shape;861;v3_foundations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Источники названы в исходной методологии FinPulse: Колб §10.5, Клонц §7.1, Тверски/Канеман приложениеB. Локальная документация определяет девятишаговую форму. Исследование денежных установок корреляционное, не диагностика читателя. Девятишаговая последовательность не равна циклу Колба или психотерапевтическому протоколу. DBT в происхождение метода не включён. Эффективность приложения пока требует отдельной оценки.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https://github.com/UnidentifiedRaccoon/FinPulse/blob/main/docs/methodology/METHODOLOGY.md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Kolb, Boyatzis, Mainemelis. Experiential Learning Theory: Previous Research and New Directions,1999/2000,с.2–3. https://learningfromexperience.com/downloads/research-library/experiential-learning-theory.pdf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Klontz et al.2011. Money Beliefs and Financial Behaviors. https://journals.newprairiepress.org/jft/article/id/5669/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Tversky &amp; Kahneman1974. Judgment under Uncertainty. https://pubmed.ncbi.nlm.nih.gov/17835457/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Проверено31.08.2026.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862" name="Google Shape;862;v3_foundations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4" name="Google Shape;88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Четыре области относятся ко всему каноническому корпусу материалов проекта, не только опубликованной редакционной тройке. Внутренняя карта содержит direct/partial/proxy/transfer связи; на слайде не заявляются полный охват рамки или факт освоения компетенций пользователем. Взрослые: таблица4,с.22–33. Пояснение допускает использование отдельных областей, тем и подразделов. Документы не подтверждают официальное одобрение приложения.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https://app-prod.xn--80apaohbc3aw9e.xn--p1ai/storage/270496/Единая-рамка-ФГ%28приложение%29-2026.pdf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https://app-prod.xn--80apaohbc3aw9e.xn--p1ai/storage/270497/metodpoyasnenie-k-edinoi-ramke-2026.pdf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content/program/competency-action-map.md: AFC-0057/0077/0079;0190;0363/0423/0424;0505/0507/0555/0556. Проверено31.08.2026.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885" name="Google Shape;88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4" name="Google Shape;90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Скриншоты сняты31.08.2026 с актуальной локальной editorial_v2: mobile390×844, desktop1440×810. Слева полный разбор, справа добровольное упражнение. Скриншоты без реконструкции интерфейса, с сохранением пропорций. Макеты устройств — нейтральные редактируемые фигуры без логотипов. Полный разбор доступен без ответов. В публичном демо ещё старые подписи8/9; владелец уведомлён, публикация сайта вне этой задачи.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http://127.0.0.1:5173/prozhito/#/editorial-v2/section/l01-s01/analysis (локальная съёмка31.08.2026).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docs/EDITORIAL_V2.md; docs/PRODUCT.md; screenshots mobile-screen.png/desktop-screen.png.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Композиционный референс устройств: предыдущая Mobile-презентация пользователя, p3.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905" name="Google Shape;90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7" name="Google Shape;92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Предложение — совместно определить аудиторию, тему и критерии пилота. Это приглашение к обсуждению, не коммерческая оферта и не обещание готовых интеграций. Измерение понимания причинных связей предлагается как будущий дизайн пилота; аналитика в текущем приложении не реализована. Результаты обучения не выдуманы.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Позиционирование и партнёрская аудитория: утверждённый бриф владельца31.08.2026.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Продуктовые границы: docs/PRODUCT.md; docs/DECISIONS.md.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928" name="Google Shape;92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4" name="Google Shape;94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QR и ссылка ведут к опубликованной первой истории. Проверено открытие без регистрации31.08.2026. Партнёрская форма пока не предоставлена; вместо фиктивногоQR приглашение обсудить пилот на стенде. Когда владелец дастURL, правую часть можно дополнить отдельнымQR, не меняя презентационную логику.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https://unidentifiedraccoon.github.io/prozhito/#/editorial-v2/section/l01-s01/story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QR сохранён из исходной презентации пользователя, p7_i20.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[/Sources]</a:t>
            </a:r>
            <a:endParaRPr/>
          </a:p>
        </p:txBody>
      </p:sp>
      <p:sp>
        <p:nvSpPr>
          <p:cNvPr id="945" name="Google Shape;94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earningfromexperience.com/downloads/research-library/experiential-learning-theory.pdf" TargetMode="External"/><Relationship Id="rId4" Type="http://schemas.openxmlformats.org/officeDocument/2006/relationships/hyperlink" Target="https://journals.newprairiepress.org/jft/article/id/5669/" TargetMode="External"/><Relationship Id="rId5" Type="http://schemas.openxmlformats.org/officeDocument/2006/relationships/hyperlink" Target="https://pubmed.ncbi.nlm.nih.gov/17835457/" TargetMode="External"/><Relationship Id="rId6" Type="http://schemas.openxmlformats.org/officeDocument/2006/relationships/hyperlink" Target="https://github.com/UnidentifiedRaccoon/FinPulse/blob/main/docs/methodology/METHODOLOGY.m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pp-prod.xn--80apaohbc3aw9e.xn--p1ai/storage/270496/%D0%95%D0%B4%D0%B8%D0%BD%D0%B0%D1%8F-%D1%80%D0%B0%D0%BC%D0%BA%D0%B0-%D0%A4%D0%93%28%D0%BF%D1%80%D0%B8%D0%BB%D0%BE%D0%B6%D0%B5%D0%BD%D0%B8%D0%B5%29-2026.pd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hyperlink" Target="https://unidentifiedraccoon.github.io/prozhito/#/editorial-v2/section/l01-s01/sto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7813" l="-10170" r="10170" t="7813"/>
          <a:stretch/>
        </p:blipFill>
        <p:spPr>
          <a:xfrm>
            <a:off x="-1562824" y="-254000"/>
            <a:ext cx="15367000" cy="8643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0795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11200" y="2298700"/>
            <a:ext cx="6222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36600" y="3543300"/>
            <a:ext cx="615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FFFF"/>
                </a:solidFill>
              </a:rPr>
              <a:t>Авторский подход к осмыслению</a:t>
            </a:r>
            <a:endParaRPr sz="27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FFFFF"/>
                </a:solidFill>
              </a:rPr>
              <a:t>финансовых решений</a:t>
            </a:r>
            <a:endParaRPr sz="2700">
              <a:solidFill>
                <a:srgbClr val="FFFFFF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6600" y="6121400"/>
            <a:ext cx="10413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Девять шагов от ситуации к осмысленному действию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202522"/>
                </a:solidFill>
              </a:rPr>
              <a:t>1 / 16</a:t>
            </a:r>
            <a:endParaRPr sz="1275">
              <a:solidFill>
                <a:srgbClr val="20252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971800" y="238125"/>
            <a:ext cx="30480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Для пользователя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09600" y="742950"/>
            <a:ext cx="48894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 b="18342" l="0" r="0" t="18342"/>
          <a:stretch/>
        </p:blipFill>
        <p:spPr>
          <a:xfrm>
            <a:off x="6096000" y="0"/>
            <a:ext cx="6096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523875" y="939800"/>
            <a:ext cx="52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5D65"/>
              </a:solidFill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23875" y="1152625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</a:t>
            </a: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ринимать разумные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финансовые решения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16038" y="3009225"/>
            <a:ext cx="4864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Понимать свой выбор</a:t>
            </a:r>
            <a:endParaRPr sz="22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Замечать эмоции и убеждения, которые влияют на решения.</a:t>
            </a:r>
            <a:endParaRPr sz="1800">
              <a:solidFill>
                <a:srgbClr val="343B37"/>
              </a:solidFill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16038" y="4065713"/>
            <a:ext cx="4864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Действовать, когда не всё ясно</a:t>
            </a:r>
            <a:endParaRPr sz="22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Разобраться в фактах и найти</a:t>
            </a:r>
            <a:endParaRPr sz="18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опору для решения.</a:t>
            </a:r>
            <a:endParaRPr sz="1800">
              <a:solidFill>
                <a:srgbClr val="343B37"/>
              </a:solidFill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16038" y="5122188"/>
            <a:ext cx="4864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Учитывать риски заранее</a:t>
            </a:r>
            <a:endParaRPr sz="22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Проверить условия и подготовиться к возможным трудностям.</a:t>
            </a:r>
            <a:endParaRPr sz="1800">
              <a:solidFill>
                <a:srgbClr val="343B37"/>
              </a:solidFill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33438" y="3079025"/>
            <a:ext cx="444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5D65"/>
                </a:solidFill>
              </a:rPr>
              <a:t>01</a:t>
            </a:r>
            <a:endParaRPr sz="1500">
              <a:solidFill>
                <a:srgbClr val="245D65"/>
              </a:solidFill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1213" y="4136325"/>
            <a:ext cx="444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5D65"/>
                </a:solidFill>
              </a:rPr>
              <a:t>0</a:t>
            </a:r>
            <a:r>
              <a:rPr lang="en-US" sz="1500">
                <a:solidFill>
                  <a:srgbClr val="245D65"/>
                </a:solidFill>
              </a:rPr>
              <a:t>2</a:t>
            </a:r>
            <a:endParaRPr sz="1500">
              <a:solidFill>
                <a:srgbClr val="245D65"/>
              </a:solidFill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33438" y="5193625"/>
            <a:ext cx="444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5D65"/>
                </a:solidFill>
              </a:rPr>
              <a:t>03</a:t>
            </a:r>
            <a:endParaRPr sz="1500">
              <a:solidFill>
                <a:srgbClr val="245D65"/>
              </a:solidFill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202522"/>
                </a:solidFill>
              </a:rPr>
              <a:t>2 / 16</a:t>
            </a:r>
            <a:endParaRPr sz="1275">
              <a:solidFill>
                <a:srgbClr val="20252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Авторский подход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3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23875" y="977900"/>
            <a:ext cx="1113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От ситуации — к осмысленному действию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50" name="Google Shape;50;p5"/>
          <p:cNvCxnSpPr/>
          <p:nvPr/>
        </p:nvCxnSpPr>
        <p:spPr>
          <a:xfrm>
            <a:off x="3352800" y="2184400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5"/>
          <p:cNvCxnSpPr/>
          <p:nvPr/>
        </p:nvCxnSpPr>
        <p:spPr>
          <a:xfrm>
            <a:off x="3507763" y="2191166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5"/>
          <p:cNvCxnSpPr/>
          <p:nvPr/>
        </p:nvCxnSpPr>
        <p:spPr>
          <a:xfrm>
            <a:off x="3661546" y="2211412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5"/>
          <p:cNvCxnSpPr/>
          <p:nvPr/>
        </p:nvCxnSpPr>
        <p:spPr>
          <a:xfrm>
            <a:off x="3812980" y="2244984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" name="Google Shape;54;p5"/>
          <p:cNvCxnSpPr/>
          <p:nvPr/>
        </p:nvCxnSpPr>
        <p:spPr>
          <a:xfrm>
            <a:off x="3960912" y="2291627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5"/>
          <p:cNvCxnSpPr/>
          <p:nvPr/>
        </p:nvCxnSpPr>
        <p:spPr>
          <a:xfrm>
            <a:off x="4104215" y="2350985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5"/>
          <p:cNvCxnSpPr/>
          <p:nvPr/>
        </p:nvCxnSpPr>
        <p:spPr>
          <a:xfrm>
            <a:off x="4241800" y="2422607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5"/>
          <p:cNvCxnSpPr/>
          <p:nvPr/>
        </p:nvCxnSpPr>
        <p:spPr>
          <a:xfrm>
            <a:off x="4372619" y="2505948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5"/>
          <p:cNvCxnSpPr/>
          <p:nvPr/>
        </p:nvCxnSpPr>
        <p:spPr>
          <a:xfrm>
            <a:off x="4495676" y="2600373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610036" y="2705164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714827" y="2819524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4809252" y="2942581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5"/>
          <p:cNvCxnSpPr/>
          <p:nvPr/>
        </p:nvCxnSpPr>
        <p:spPr>
          <a:xfrm>
            <a:off x="4892593" y="3073400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5"/>
          <p:cNvCxnSpPr/>
          <p:nvPr/>
        </p:nvCxnSpPr>
        <p:spPr>
          <a:xfrm>
            <a:off x="4964215" y="3210985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5"/>
          <p:cNvCxnSpPr/>
          <p:nvPr/>
        </p:nvCxnSpPr>
        <p:spPr>
          <a:xfrm>
            <a:off x="5023573" y="3354288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5"/>
          <p:cNvCxnSpPr/>
          <p:nvPr/>
        </p:nvCxnSpPr>
        <p:spPr>
          <a:xfrm>
            <a:off x="5070216" y="3502220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5"/>
          <p:cNvCxnSpPr/>
          <p:nvPr/>
        </p:nvCxnSpPr>
        <p:spPr>
          <a:xfrm>
            <a:off x="5103788" y="3653654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5"/>
          <p:cNvCxnSpPr/>
          <p:nvPr/>
        </p:nvCxnSpPr>
        <p:spPr>
          <a:xfrm>
            <a:off x="5124034" y="3807437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5"/>
          <p:cNvCxnSpPr/>
          <p:nvPr/>
        </p:nvCxnSpPr>
        <p:spPr>
          <a:xfrm flipH="1">
            <a:off x="5123900" y="3962400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5"/>
          <p:cNvCxnSpPr/>
          <p:nvPr/>
        </p:nvCxnSpPr>
        <p:spPr>
          <a:xfrm flipH="1">
            <a:off x="5103934" y="4117363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5"/>
          <p:cNvCxnSpPr/>
          <p:nvPr/>
        </p:nvCxnSpPr>
        <p:spPr>
          <a:xfrm flipH="1">
            <a:off x="5070188" y="4271146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5"/>
          <p:cNvCxnSpPr/>
          <p:nvPr/>
        </p:nvCxnSpPr>
        <p:spPr>
          <a:xfrm flipH="1">
            <a:off x="5023716" y="442258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5"/>
          <p:cNvCxnSpPr/>
          <p:nvPr/>
        </p:nvCxnSpPr>
        <p:spPr>
          <a:xfrm flipH="1">
            <a:off x="4964173" y="4570512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5"/>
          <p:cNvCxnSpPr/>
          <p:nvPr/>
        </p:nvCxnSpPr>
        <p:spPr>
          <a:xfrm flipH="1">
            <a:off x="4892515" y="471381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5"/>
          <p:cNvCxnSpPr/>
          <p:nvPr/>
        </p:nvCxnSpPr>
        <p:spPr>
          <a:xfrm flipH="1">
            <a:off x="4809193" y="48514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5"/>
          <p:cNvCxnSpPr/>
          <p:nvPr/>
        </p:nvCxnSpPr>
        <p:spPr>
          <a:xfrm flipH="1">
            <a:off x="4714752" y="4982219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5"/>
          <p:cNvCxnSpPr/>
          <p:nvPr/>
        </p:nvCxnSpPr>
        <p:spPr>
          <a:xfrm flipH="1">
            <a:off x="4610127" y="5105276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5"/>
          <p:cNvCxnSpPr/>
          <p:nvPr/>
        </p:nvCxnSpPr>
        <p:spPr>
          <a:xfrm flipH="1">
            <a:off x="4495736" y="5219636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5"/>
          <p:cNvCxnSpPr/>
          <p:nvPr/>
        </p:nvCxnSpPr>
        <p:spPr>
          <a:xfrm flipH="1">
            <a:off x="4372676" y="5324427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5"/>
          <p:cNvCxnSpPr/>
          <p:nvPr/>
        </p:nvCxnSpPr>
        <p:spPr>
          <a:xfrm flipH="1">
            <a:off x="4241819" y="5418852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5"/>
          <p:cNvCxnSpPr/>
          <p:nvPr/>
        </p:nvCxnSpPr>
        <p:spPr>
          <a:xfrm flipH="1">
            <a:off x="4104100" y="5502193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5"/>
          <p:cNvCxnSpPr/>
          <p:nvPr/>
        </p:nvCxnSpPr>
        <p:spPr>
          <a:xfrm flipH="1">
            <a:off x="3960815" y="5573815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5"/>
          <p:cNvCxnSpPr/>
          <p:nvPr/>
        </p:nvCxnSpPr>
        <p:spPr>
          <a:xfrm flipH="1">
            <a:off x="3813012" y="5633173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5"/>
          <p:cNvCxnSpPr/>
          <p:nvPr/>
        </p:nvCxnSpPr>
        <p:spPr>
          <a:xfrm flipH="1">
            <a:off x="3661480" y="5679816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5"/>
          <p:cNvCxnSpPr/>
          <p:nvPr/>
        </p:nvCxnSpPr>
        <p:spPr>
          <a:xfrm flipH="1">
            <a:off x="3507646" y="5713388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5"/>
          <p:cNvCxnSpPr/>
          <p:nvPr/>
        </p:nvCxnSpPr>
        <p:spPr>
          <a:xfrm flipH="1">
            <a:off x="3352663" y="5733634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5"/>
          <p:cNvCxnSpPr/>
          <p:nvPr/>
        </p:nvCxnSpPr>
        <p:spPr>
          <a:xfrm rot="10800000">
            <a:off x="3197700" y="5733500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5"/>
          <p:cNvCxnSpPr/>
          <p:nvPr/>
        </p:nvCxnSpPr>
        <p:spPr>
          <a:xfrm rot="10800000">
            <a:off x="3043937" y="5713534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5"/>
          <p:cNvCxnSpPr/>
          <p:nvPr/>
        </p:nvCxnSpPr>
        <p:spPr>
          <a:xfrm rot="10800000">
            <a:off x="2892554" y="5679788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5"/>
          <p:cNvCxnSpPr/>
          <p:nvPr/>
        </p:nvCxnSpPr>
        <p:spPr>
          <a:xfrm rot="10800000">
            <a:off x="2744720" y="5633316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5"/>
          <p:cNvCxnSpPr/>
          <p:nvPr/>
        </p:nvCxnSpPr>
        <p:spPr>
          <a:xfrm rot="10800000">
            <a:off x="2601288" y="5573773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5"/>
          <p:cNvCxnSpPr/>
          <p:nvPr/>
        </p:nvCxnSpPr>
        <p:spPr>
          <a:xfrm rot="10800000">
            <a:off x="2463685" y="5502115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5"/>
          <p:cNvCxnSpPr/>
          <p:nvPr/>
        </p:nvCxnSpPr>
        <p:spPr>
          <a:xfrm rot="10800000">
            <a:off x="2333000" y="5418793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5"/>
          <p:cNvCxnSpPr/>
          <p:nvPr/>
        </p:nvCxnSpPr>
        <p:spPr>
          <a:xfrm rot="10800000">
            <a:off x="2209981" y="5324352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5"/>
          <p:cNvCxnSpPr/>
          <p:nvPr/>
        </p:nvCxnSpPr>
        <p:spPr>
          <a:xfrm rot="10800000">
            <a:off x="2095624" y="5219727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5"/>
          <p:cNvCxnSpPr/>
          <p:nvPr/>
        </p:nvCxnSpPr>
        <p:spPr>
          <a:xfrm rot="10800000">
            <a:off x="1990864" y="5105336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5"/>
          <p:cNvCxnSpPr/>
          <p:nvPr/>
        </p:nvCxnSpPr>
        <p:spPr>
          <a:xfrm rot="10800000">
            <a:off x="1896273" y="4982276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5"/>
          <p:cNvCxnSpPr/>
          <p:nvPr/>
        </p:nvCxnSpPr>
        <p:spPr>
          <a:xfrm rot="10800000">
            <a:off x="1812948" y="4851419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5"/>
          <p:cNvCxnSpPr/>
          <p:nvPr/>
        </p:nvCxnSpPr>
        <p:spPr>
          <a:xfrm rot="10800000">
            <a:off x="1741307" y="4713700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5"/>
          <p:cNvCxnSpPr/>
          <p:nvPr/>
        </p:nvCxnSpPr>
        <p:spPr>
          <a:xfrm rot="10800000">
            <a:off x="1681985" y="4570415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5"/>
          <p:cNvCxnSpPr/>
          <p:nvPr/>
        </p:nvCxnSpPr>
        <p:spPr>
          <a:xfrm rot="10800000">
            <a:off x="1635527" y="4422612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5"/>
          <p:cNvCxnSpPr/>
          <p:nvPr/>
        </p:nvCxnSpPr>
        <p:spPr>
          <a:xfrm rot="10800000">
            <a:off x="1601784" y="4271080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5"/>
          <p:cNvCxnSpPr/>
          <p:nvPr/>
        </p:nvCxnSpPr>
        <p:spPr>
          <a:xfrm rot="10800000">
            <a:off x="1581712" y="4117246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5"/>
          <p:cNvCxnSpPr/>
          <p:nvPr/>
        </p:nvCxnSpPr>
        <p:spPr>
          <a:xfrm rot="10800000">
            <a:off x="1574666" y="3962263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5"/>
          <p:cNvCxnSpPr/>
          <p:nvPr/>
        </p:nvCxnSpPr>
        <p:spPr>
          <a:xfrm flipH="1" rot="10800000">
            <a:off x="1574800" y="3807300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5"/>
          <p:cNvCxnSpPr/>
          <p:nvPr/>
        </p:nvCxnSpPr>
        <p:spPr>
          <a:xfrm flipH="1" rot="10800000">
            <a:off x="1581566" y="3653537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5"/>
          <p:cNvCxnSpPr/>
          <p:nvPr/>
        </p:nvCxnSpPr>
        <p:spPr>
          <a:xfrm flipH="1" rot="10800000">
            <a:off x="1601812" y="3502154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5"/>
          <p:cNvCxnSpPr/>
          <p:nvPr/>
        </p:nvCxnSpPr>
        <p:spPr>
          <a:xfrm flipH="1" rot="10800000">
            <a:off x="1635384" y="335432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5"/>
          <p:cNvCxnSpPr/>
          <p:nvPr/>
        </p:nvCxnSpPr>
        <p:spPr>
          <a:xfrm flipH="1" rot="10800000">
            <a:off x="1682027" y="3210888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5"/>
          <p:cNvCxnSpPr/>
          <p:nvPr/>
        </p:nvCxnSpPr>
        <p:spPr>
          <a:xfrm flipH="1" rot="10800000">
            <a:off x="1741385" y="307328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5"/>
          <p:cNvCxnSpPr/>
          <p:nvPr/>
        </p:nvCxnSpPr>
        <p:spPr>
          <a:xfrm flipH="1" rot="10800000">
            <a:off x="1813007" y="29426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5"/>
          <p:cNvCxnSpPr/>
          <p:nvPr/>
        </p:nvCxnSpPr>
        <p:spPr>
          <a:xfrm flipH="1" rot="10800000">
            <a:off x="1896348" y="2819581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5"/>
          <p:cNvCxnSpPr/>
          <p:nvPr/>
        </p:nvCxnSpPr>
        <p:spPr>
          <a:xfrm flipH="1" rot="10800000">
            <a:off x="1990773" y="2705224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5"/>
          <p:cNvCxnSpPr/>
          <p:nvPr/>
        </p:nvCxnSpPr>
        <p:spPr>
          <a:xfrm flipH="1" rot="10800000">
            <a:off x="2095564" y="2600464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5"/>
          <p:cNvSpPr/>
          <p:nvPr/>
        </p:nvSpPr>
        <p:spPr>
          <a:xfrm>
            <a:off x="3035300" y="1866900"/>
            <a:ext cx="635100" cy="6351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3124200" y="1955800"/>
            <a:ext cx="457200" cy="457200"/>
          </a:xfrm>
          <a:prstGeom prst="ellipse">
            <a:avLst/>
          </a:prstGeom>
          <a:solidFill>
            <a:srgbClr val="245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CFCFB"/>
                </a:solidFill>
              </a:rPr>
              <a:t>1</a:t>
            </a:r>
            <a:endParaRPr sz="1800">
              <a:solidFill>
                <a:srgbClr val="FCFCFB"/>
              </a:solidFill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2273300" y="2552700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Ситуация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444876" y="25495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052988" y="3602854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841793" y="4800600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910112" y="55823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693888" y="55823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762207" y="4800600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551012" y="3602854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159124" y="25495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7150100" y="2501900"/>
            <a:ext cx="4381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Ситуация</a:t>
            </a:r>
            <a:endParaRPr sz="38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7150100" y="3479800"/>
            <a:ext cx="425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43B37"/>
                </a:solidFill>
              </a:rPr>
              <a:t>Начинаем с фактов: деньги, сроки, договорённости. Отмечаем, что уже известно и что ещё нужно уточнить.</a:t>
            </a:r>
            <a:endParaRPr sz="2200">
              <a:solidFill>
                <a:srgbClr val="343B3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Авторский подход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4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23875" y="977900"/>
            <a:ext cx="1113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От ситуации — к осмысленному действию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37" name="Google Shape;137;p6"/>
          <p:cNvCxnSpPr/>
          <p:nvPr/>
        </p:nvCxnSpPr>
        <p:spPr>
          <a:xfrm>
            <a:off x="3352800" y="21844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6"/>
          <p:cNvCxnSpPr/>
          <p:nvPr/>
        </p:nvCxnSpPr>
        <p:spPr>
          <a:xfrm>
            <a:off x="3507763" y="2191166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6"/>
          <p:cNvCxnSpPr/>
          <p:nvPr/>
        </p:nvCxnSpPr>
        <p:spPr>
          <a:xfrm>
            <a:off x="3661546" y="2211412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6"/>
          <p:cNvCxnSpPr/>
          <p:nvPr/>
        </p:nvCxnSpPr>
        <p:spPr>
          <a:xfrm>
            <a:off x="3812980" y="2244984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6"/>
          <p:cNvCxnSpPr/>
          <p:nvPr/>
        </p:nvCxnSpPr>
        <p:spPr>
          <a:xfrm>
            <a:off x="3960912" y="2291627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6"/>
          <p:cNvCxnSpPr/>
          <p:nvPr/>
        </p:nvCxnSpPr>
        <p:spPr>
          <a:xfrm>
            <a:off x="4104215" y="235098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6"/>
          <p:cNvCxnSpPr/>
          <p:nvPr/>
        </p:nvCxnSpPr>
        <p:spPr>
          <a:xfrm>
            <a:off x="4241800" y="2422607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6"/>
          <p:cNvCxnSpPr/>
          <p:nvPr/>
        </p:nvCxnSpPr>
        <p:spPr>
          <a:xfrm>
            <a:off x="4372619" y="2505948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6"/>
          <p:cNvCxnSpPr/>
          <p:nvPr/>
        </p:nvCxnSpPr>
        <p:spPr>
          <a:xfrm>
            <a:off x="4495676" y="2600373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6"/>
          <p:cNvCxnSpPr/>
          <p:nvPr/>
        </p:nvCxnSpPr>
        <p:spPr>
          <a:xfrm>
            <a:off x="4610036" y="2705164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6"/>
          <p:cNvCxnSpPr/>
          <p:nvPr/>
        </p:nvCxnSpPr>
        <p:spPr>
          <a:xfrm>
            <a:off x="4714827" y="2819524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6"/>
          <p:cNvCxnSpPr/>
          <p:nvPr/>
        </p:nvCxnSpPr>
        <p:spPr>
          <a:xfrm>
            <a:off x="4809252" y="2942581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6"/>
          <p:cNvCxnSpPr/>
          <p:nvPr/>
        </p:nvCxnSpPr>
        <p:spPr>
          <a:xfrm>
            <a:off x="4892593" y="3073400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6"/>
          <p:cNvCxnSpPr/>
          <p:nvPr/>
        </p:nvCxnSpPr>
        <p:spPr>
          <a:xfrm>
            <a:off x="4964215" y="3210985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6"/>
          <p:cNvCxnSpPr/>
          <p:nvPr/>
        </p:nvCxnSpPr>
        <p:spPr>
          <a:xfrm>
            <a:off x="5023573" y="3354288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6"/>
          <p:cNvCxnSpPr/>
          <p:nvPr/>
        </p:nvCxnSpPr>
        <p:spPr>
          <a:xfrm>
            <a:off x="5070216" y="3502220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6"/>
          <p:cNvCxnSpPr/>
          <p:nvPr/>
        </p:nvCxnSpPr>
        <p:spPr>
          <a:xfrm>
            <a:off x="5103788" y="3653654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6"/>
          <p:cNvCxnSpPr/>
          <p:nvPr/>
        </p:nvCxnSpPr>
        <p:spPr>
          <a:xfrm>
            <a:off x="5124034" y="3807437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6"/>
          <p:cNvCxnSpPr/>
          <p:nvPr/>
        </p:nvCxnSpPr>
        <p:spPr>
          <a:xfrm flipH="1">
            <a:off x="5123900" y="3962400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6"/>
          <p:cNvCxnSpPr/>
          <p:nvPr/>
        </p:nvCxnSpPr>
        <p:spPr>
          <a:xfrm flipH="1">
            <a:off x="5103934" y="4117363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6"/>
          <p:cNvCxnSpPr/>
          <p:nvPr/>
        </p:nvCxnSpPr>
        <p:spPr>
          <a:xfrm flipH="1">
            <a:off x="5070188" y="4271146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6"/>
          <p:cNvCxnSpPr/>
          <p:nvPr/>
        </p:nvCxnSpPr>
        <p:spPr>
          <a:xfrm flipH="1">
            <a:off x="5023716" y="442258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6"/>
          <p:cNvCxnSpPr/>
          <p:nvPr/>
        </p:nvCxnSpPr>
        <p:spPr>
          <a:xfrm flipH="1">
            <a:off x="4964173" y="4570512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6"/>
          <p:cNvCxnSpPr/>
          <p:nvPr/>
        </p:nvCxnSpPr>
        <p:spPr>
          <a:xfrm flipH="1">
            <a:off x="4892515" y="471381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6"/>
          <p:cNvCxnSpPr/>
          <p:nvPr/>
        </p:nvCxnSpPr>
        <p:spPr>
          <a:xfrm flipH="1">
            <a:off x="4809193" y="48514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6"/>
          <p:cNvCxnSpPr/>
          <p:nvPr/>
        </p:nvCxnSpPr>
        <p:spPr>
          <a:xfrm flipH="1">
            <a:off x="4714752" y="4982219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6"/>
          <p:cNvCxnSpPr/>
          <p:nvPr/>
        </p:nvCxnSpPr>
        <p:spPr>
          <a:xfrm flipH="1">
            <a:off x="4610127" y="5105276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6"/>
          <p:cNvCxnSpPr/>
          <p:nvPr/>
        </p:nvCxnSpPr>
        <p:spPr>
          <a:xfrm flipH="1">
            <a:off x="4495736" y="5219636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6"/>
          <p:cNvCxnSpPr/>
          <p:nvPr/>
        </p:nvCxnSpPr>
        <p:spPr>
          <a:xfrm flipH="1">
            <a:off x="4372676" y="5324427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6"/>
          <p:cNvCxnSpPr/>
          <p:nvPr/>
        </p:nvCxnSpPr>
        <p:spPr>
          <a:xfrm flipH="1">
            <a:off x="4241819" y="5418852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6"/>
          <p:cNvCxnSpPr/>
          <p:nvPr/>
        </p:nvCxnSpPr>
        <p:spPr>
          <a:xfrm flipH="1">
            <a:off x="4104100" y="5502193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6"/>
          <p:cNvCxnSpPr/>
          <p:nvPr/>
        </p:nvCxnSpPr>
        <p:spPr>
          <a:xfrm flipH="1">
            <a:off x="3960815" y="5573815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6"/>
          <p:cNvCxnSpPr/>
          <p:nvPr/>
        </p:nvCxnSpPr>
        <p:spPr>
          <a:xfrm flipH="1">
            <a:off x="3813012" y="5633173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6"/>
          <p:cNvCxnSpPr/>
          <p:nvPr/>
        </p:nvCxnSpPr>
        <p:spPr>
          <a:xfrm flipH="1">
            <a:off x="3661480" y="5679816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6"/>
          <p:cNvCxnSpPr/>
          <p:nvPr/>
        </p:nvCxnSpPr>
        <p:spPr>
          <a:xfrm flipH="1">
            <a:off x="3507646" y="5713388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6"/>
          <p:cNvCxnSpPr/>
          <p:nvPr/>
        </p:nvCxnSpPr>
        <p:spPr>
          <a:xfrm flipH="1">
            <a:off x="3352663" y="5733634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6"/>
          <p:cNvCxnSpPr/>
          <p:nvPr/>
        </p:nvCxnSpPr>
        <p:spPr>
          <a:xfrm rot="10800000">
            <a:off x="3197700" y="5733500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6"/>
          <p:cNvCxnSpPr/>
          <p:nvPr/>
        </p:nvCxnSpPr>
        <p:spPr>
          <a:xfrm rot="10800000">
            <a:off x="3043937" y="5713534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6"/>
          <p:cNvCxnSpPr/>
          <p:nvPr/>
        </p:nvCxnSpPr>
        <p:spPr>
          <a:xfrm rot="10800000">
            <a:off x="2892554" y="5679788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6"/>
          <p:cNvCxnSpPr/>
          <p:nvPr/>
        </p:nvCxnSpPr>
        <p:spPr>
          <a:xfrm rot="10800000">
            <a:off x="2744720" y="5633316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6"/>
          <p:cNvCxnSpPr/>
          <p:nvPr/>
        </p:nvCxnSpPr>
        <p:spPr>
          <a:xfrm rot="10800000">
            <a:off x="2601288" y="5573773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6"/>
          <p:cNvCxnSpPr/>
          <p:nvPr/>
        </p:nvCxnSpPr>
        <p:spPr>
          <a:xfrm rot="10800000">
            <a:off x="2463685" y="5502115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6"/>
          <p:cNvCxnSpPr/>
          <p:nvPr/>
        </p:nvCxnSpPr>
        <p:spPr>
          <a:xfrm rot="10800000">
            <a:off x="2333000" y="5418793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6"/>
          <p:cNvCxnSpPr/>
          <p:nvPr/>
        </p:nvCxnSpPr>
        <p:spPr>
          <a:xfrm rot="10800000">
            <a:off x="2209981" y="5324352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6"/>
          <p:cNvCxnSpPr/>
          <p:nvPr/>
        </p:nvCxnSpPr>
        <p:spPr>
          <a:xfrm rot="10800000">
            <a:off x="2095624" y="5219727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6"/>
          <p:cNvCxnSpPr/>
          <p:nvPr/>
        </p:nvCxnSpPr>
        <p:spPr>
          <a:xfrm rot="10800000">
            <a:off x="1990864" y="5105336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6"/>
          <p:cNvCxnSpPr/>
          <p:nvPr/>
        </p:nvCxnSpPr>
        <p:spPr>
          <a:xfrm rot="10800000">
            <a:off x="1896273" y="4982276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6"/>
          <p:cNvCxnSpPr/>
          <p:nvPr/>
        </p:nvCxnSpPr>
        <p:spPr>
          <a:xfrm rot="10800000">
            <a:off x="1812948" y="4851419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6"/>
          <p:cNvCxnSpPr/>
          <p:nvPr/>
        </p:nvCxnSpPr>
        <p:spPr>
          <a:xfrm rot="10800000">
            <a:off x="1741307" y="4713700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6"/>
          <p:cNvCxnSpPr/>
          <p:nvPr/>
        </p:nvCxnSpPr>
        <p:spPr>
          <a:xfrm rot="10800000">
            <a:off x="1681985" y="4570415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6"/>
          <p:cNvCxnSpPr/>
          <p:nvPr/>
        </p:nvCxnSpPr>
        <p:spPr>
          <a:xfrm rot="10800000">
            <a:off x="1635527" y="4422612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6"/>
          <p:cNvCxnSpPr/>
          <p:nvPr/>
        </p:nvCxnSpPr>
        <p:spPr>
          <a:xfrm rot="10800000">
            <a:off x="1601784" y="4271080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6"/>
          <p:cNvCxnSpPr/>
          <p:nvPr/>
        </p:nvCxnSpPr>
        <p:spPr>
          <a:xfrm rot="10800000">
            <a:off x="1581712" y="4117246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6"/>
          <p:cNvCxnSpPr/>
          <p:nvPr/>
        </p:nvCxnSpPr>
        <p:spPr>
          <a:xfrm rot="10800000">
            <a:off x="1574666" y="3962263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6"/>
          <p:cNvCxnSpPr/>
          <p:nvPr/>
        </p:nvCxnSpPr>
        <p:spPr>
          <a:xfrm flipH="1" rot="10800000">
            <a:off x="1574800" y="3807300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6"/>
          <p:cNvCxnSpPr/>
          <p:nvPr/>
        </p:nvCxnSpPr>
        <p:spPr>
          <a:xfrm flipH="1" rot="10800000">
            <a:off x="1581566" y="3653537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6"/>
          <p:cNvCxnSpPr/>
          <p:nvPr/>
        </p:nvCxnSpPr>
        <p:spPr>
          <a:xfrm flipH="1" rot="10800000">
            <a:off x="1601812" y="3502154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6"/>
          <p:cNvCxnSpPr/>
          <p:nvPr/>
        </p:nvCxnSpPr>
        <p:spPr>
          <a:xfrm flipH="1" rot="10800000">
            <a:off x="1635384" y="335432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6"/>
          <p:cNvCxnSpPr/>
          <p:nvPr/>
        </p:nvCxnSpPr>
        <p:spPr>
          <a:xfrm flipH="1" rot="10800000">
            <a:off x="1682027" y="3210888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6"/>
          <p:cNvCxnSpPr/>
          <p:nvPr/>
        </p:nvCxnSpPr>
        <p:spPr>
          <a:xfrm flipH="1" rot="10800000">
            <a:off x="1741385" y="307328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6"/>
          <p:cNvCxnSpPr/>
          <p:nvPr/>
        </p:nvCxnSpPr>
        <p:spPr>
          <a:xfrm flipH="1" rot="10800000">
            <a:off x="1813007" y="29426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6"/>
          <p:cNvCxnSpPr/>
          <p:nvPr/>
        </p:nvCxnSpPr>
        <p:spPr>
          <a:xfrm flipH="1" rot="10800000">
            <a:off x="1896348" y="2819581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6"/>
          <p:cNvCxnSpPr/>
          <p:nvPr/>
        </p:nvCxnSpPr>
        <p:spPr>
          <a:xfrm flipH="1" rot="10800000">
            <a:off x="1990773" y="2705224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6"/>
          <p:cNvCxnSpPr/>
          <p:nvPr/>
        </p:nvCxnSpPr>
        <p:spPr>
          <a:xfrm flipH="1" rot="10800000">
            <a:off x="2095564" y="2600464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6"/>
          <p:cNvSpPr/>
          <p:nvPr/>
        </p:nvSpPr>
        <p:spPr>
          <a:xfrm>
            <a:off x="4178176" y="2282873"/>
            <a:ext cx="635100" cy="6351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3124200" y="1955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1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2273300" y="2552700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Ситуация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267076" y="2371773"/>
            <a:ext cx="457200" cy="457200"/>
          </a:xfrm>
          <a:prstGeom prst="ellipse">
            <a:avLst/>
          </a:prstGeom>
          <a:solidFill>
            <a:srgbClr val="245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CFCFB"/>
                </a:solidFill>
              </a:rPr>
              <a:t>2</a:t>
            </a:r>
            <a:endParaRPr sz="1800">
              <a:solidFill>
                <a:srgbClr val="FCFCFB"/>
              </a:solidFill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3416176" y="2041573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Эмоция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052988" y="3602854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841793" y="4800600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910112" y="55823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2693888" y="55823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762207" y="4800600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551012" y="3602854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159124" y="25495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7150100" y="2501900"/>
            <a:ext cx="4381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Эмоция</a:t>
            </a:r>
            <a:endParaRPr sz="38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7150100" y="3479800"/>
            <a:ext cx="425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43B37"/>
                </a:solidFill>
              </a:rPr>
              <a:t>Тревога, азарт или растерянность могут влиять на то, как человек воспринимает ситуацию.</a:t>
            </a:r>
            <a:endParaRPr sz="2200">
              <a:solidFill>
                <a:srgbClr val="343B3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Авторский подход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5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23875" y="977900"/>
            <a:ext cx="1113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От ситуации — к осмысленному действию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225" name="Google Shape;225;p7"/>
          <p:cNvCxnSpPr/>
          <p:nvPr/>
        </p:nvCxnSpPr>
        <p:spPr>
          <a:xfrm>
            <a:off x="3352800" y="21844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7"/>
          <p:cNvCxnSpPr/>
          <p:nvPr/>
        </p:nvCxnSpPr>
        <p:spPr>
          <a:xfrm>
            <a:off x="3507763" y="2191166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7"/>
          <p:cNvCxnSpPr/>
          <p:nvPr/>
        </p:nvCxnSpPr>
        <p:spPr>
          <a:xfrm>
            <a:off x="3661546" y="2211412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7"/>
          <p:cNvCxnSpPr/>
          <p:nvPr/>
        </p:nvCxnSpPr>
        <p:spPr>
          <a:xfrm>
            <a:off x="3812980" y="2244984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7"/>
          <p:cNvCxnSpPr/>
          <p:nvPr/>
        </p:nvCxnSpPr>
        <p:spPr>
          <a:xfrm>
            <a:off x="3960912" y="2291627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7"/>
          <p:cNvCxnSpPr/>
          <p:nvPr/>
        </p:nvCxnSpPr>
        <p:spPr>
          <a:xfrm>
            <a:off x="4104215" y="235098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7"/>
          <p:cNvCxnSpPr/>
          <p:nvPr/>
        </p:nvCxnSpPr>
        <p:spPr>
          <a:xfrm>
            <a:off x="4241800" y="2422607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7"/>
          <p:cNvCxnSpPr/>
          <p:nvPr/>
        </p:nvCxnSpPr>
        <p:spPr>
          <a:xfrm>
            <a:off x="4372619" y="2505948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7"/>
          <p:cNvCxnSpPr/>
          <p:nvPr/>
        </p:nvCxnSpPr>
        <p:spPr>
          <a:xfrm>
            <a:off x="4495676" y="2600373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7"/>
          <p:cNvCxnSpPr/>
          <p:nvPr/>
        </p:nvCxnSpPr>
        <p:spPr>
          <a:xfrm>
            <a:off x="4610036" y="2705164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7"/>
          <p:cNvCxnSpPr/>
          <p:nvPr/>
        </p:nvCxnSpPr>
        <p:spPr>
          <a:xfrm>
            <a:off x="4714827" y="2819524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7"/>
          <p:cNvCxnSpPr/>
          <p:nvPr/>
        </p:nvCxnSpPr>
        <p:spPr>
          <a:xfrm>
            <a:off x="4809252" y="2942581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7"/>
          <p:cNvCxnSpPr/>
          <p:nvPr/>
        </p:nvCxnSpPr>
        <p:spPr>
          <a:xfrm>
            <a:off x="4892593" y="3073400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7"/>
          <p:cNvCxnSpPr/>
          <p:nvPr/>
        </p:nvCxnSpPr>
        <p:spPr>
          <a:xfrm>
            <a:off x="4964215" y="3210985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7"/>
          <p:cNvCxnSpPr/>
          <p:nvPr/>
        </p:nvCxnSpPr>
        <p:spPr>
          <a:xfrm>
            <a:off x="5023573" y="3354288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7"/>
          <p:cNvCxnSpPr/>
          <p:nvPr/>
        </p:nvCxnSpPr>
        <p:spPr>
          <a:xfrm>
            <a:off x="5070216" y="3502220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7"/>
          <p:cNvCxnSpPr/>
          <p:nvPr/>
        </p:nvCxnSpPr>
        <p:spPr>
          <a:xfrm>
            <a:off x="5103788" y="3653654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7"/>
          <p:cNvCxnSpPr/>
          <p:nvPr/>
        </p:nvCxnSpPr>
        <p:spPr>
          <a:xfrm>
            <a:off x="5124034" y="3807437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7"/>
          <p:cNvCxnSpPr/>
          <p:nvPr/>
        </p:nvCxnSpPr>
        <p:spPr>
          <a:xfrm flipH="1">
            <a:off x="5123900" y="3962400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7"/>
          <p:cNvCxnSpPr/>
          <p:nvPr/>
        </p:nvCxnSpPr>
        <p:spPr>
          <a:xfrm flipH="1">
            <a:off x="5103934" y="4117363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7"/>
          <p:cNvCxnSpPr/>
          <p:nvPr/>
        </p:nvCxnSpPr>
        <p:spPr>
          <a:xfrm flipH="1">
            <a:off x="5070188" y="4271146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7"/>
          <p:cNvCxnSpPr/>
          <p:nvPr/>
        </p:nvCxnSpPr>
        <p:spPr>
          <a:xfrm flipH="1">
            <a:off x="5023716" y="442258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7"/>
          <p:cNvCxnSpPr/>
          <p:nvPr/>
        </p:nvCxnSpPr>
        <p:spPr>
          <a:xfrm flipH="1">
            <a:off x="4964173" y="4570512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7"/>
          <p:cNvCxnSpPr/>
          <p:nvPr/>
        </p:nvCxnSpPr>
        <p:spPr>
          <a:xfrm flipH="1">
            <a:off x="4892515" y="471381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7"/>
          <p:cNvCxnSpPr/>
          <p:nvPr/>
        </p:nvCxnSpPr>
        <p:spPr>
          <a:xfrm flipH="1">
            <a:off x="4809193" y="48514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7"/>
          <p:cNvCxnSpPr/>
          <p:nvPr/>
        </p:nvCxnSpPr>
        <p:spPr>
          <a:xfrm flipH="1">
            <a:off x="4714752" y="4982219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7"/>
          <p:cNvCxnSpPr/>
          <p:nvPr/>
        </p:nvCxnSpPr>
        <p:spPr>
          <a:xfrm flipH="1">
            <a:off x="4610127" y="5105276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7"/>
          <p:cNvCxnSpPr/>
          <p:nvPr/>
        </p:nvCxnSpPr>
        <p:spPr>
          <a:xfrm flipH="1">
            <a:off x="4495736" y="5219636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7"/>
          <p:cNvCxnSpPr/>
          <p:nvPr/>
        </p:nvCxnSpPr>
        <p:spPr>
          <a:xfrm flipH="1">
            <a:off x="4372676" y="5324427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7"/>
          <p:cNvCxnSpPr/>
          <p:nvPr/>
        </p:nvCxnSpPr>
        <p:spPr>
          <a:xfrm flipH="1">
            <a:off x="4241819" y="5418852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7"/>
          <p:cNvCxnSpPr/>
          <p:nvPr/>
        </p:nvCxnSpPr>
        <p:spPr>
          <a:xfrm flipH="1">
            <a:off x="4104100" y="5502193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7"/>
          <p:cNvCxnSpPr/>
          <p:nvPr/>
        </p:nvCxnSpPr>
        <p:spPr>
          <a:xfrm flipH="1">
            <a:off x="3960815" y="5573815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7"/>
          <p:cNvCxnSpPr/>
          <p:nvPr/>
        </p:nvCxnSpPr>
        <p:spPr>
          <a:xfrm flipH="1">
            <a:off x="3813012" y="5633173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7"/>
          <p:cNvCxnSpPr/>
          <p:nvPr/>
        </p:nvCxnSpPr>
        <p:spPr>
          <a:xfrm flipH="1">
            <a:off x="3661480" y="5679816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7"/>
          <p:cNvCxnSpPr/>
          <p:nvPr/>
        </p:nvCxnSpPr>
        <p:spPr>
          <a:xfrm flipH="1">
            <a:off x="3507646" y="5713388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7"/>
          <p:cNvCxnSpPr/>
          <p:nvPr/>
        </p:nvCxnSpPr>
        <p:spPr>
          <a:xfrm flipH="1">
            <a:off x="3352663" y="5733634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7"/>
          <p:cNvCxnSpPr/>
          <p:nvPr/>
        </p:nvCxnSpPr>
        <p:spPr>
          <a:xfrm rot="10800000">
            <a:off x="3197700" y="5733500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7"/>
          <p:cNvCxnSpPr/>
          <p:nvPr/>
        </p:nvCxnSpPr>
        <p:spPr>
          <a:xfrm rot="10800000">
            <a:off x="3043937" y="5713534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7"/>
          <p:cNvCxnSpPr/>
          <p:nvPr/>
        </p:nvCxnSpPr>
        <p:spPr>
          <a:xfrm rot="10800000">
            <a:off x="2892554" y="5679788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7"/>
          <p:cNvCxnSpPr/>
          <p:nvPr/>
        </p:nvCxnSpPr>
        <p:spPr>
          <a:xfrm rot="10800000">
            <a:off x="2744720" y="5633316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7"/>
          <p:cNvCxnSpPr/>
          <p:nvPr/>
        </p:nvCxnSpPr>
        <p:spPr>
          <a:xfrm rot="10800000">
            <a:off x="2601288" y="5573773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7"/>
          <p:cNvCxnSpPr/>
          <p:nvPr/>
        </p:nvCxnSpPr>
        <p:spPr>
          <a:xfrm rot="10800000">
            <a:off x="2463685" y="5502115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7"/>
          <p:cNvCxnSpPr/>
          <p:nvPr/>
        </p:nvCxnSpPr>
        <p:spPr>
          <a:xfrm rot="10800000">
            <a:off x="2333000" y="5418793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7"/>
          <p:cNvCxnSpPr/>
          <p:nvPr/>
        </p:nvCxnSpPr>
        <p:spPr>
          <a:xfrm rot="10800000">
            <a:off x="2209981" y="5324352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7"/>
          <p:cNvCxnSpPr/>
          <p:nvPr/>
        </p:nvCxnSpPr>
        <p:spPr>
          <a:xfrm rot="10800000">
            <a:off x="2095624" y="5219727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7"/>
          <p:cNvCxnSpPr/>
          <p:nvPr/>
        </p:nvCxnSpPr>
        <p:spPr>
          <a:xfrm rot="10800000">
            <a:off x="1990864" y="5105336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7"/>
          <p:cNvCxnSpPr/>
          <p:nvPr/>
        </p:nvCxnSpPr>
        <p:spPr>
          <a:xfrm rot="10800000">
            <a:off x="1896273" y="4982276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7"/>
          <p:cNvCxnSpPr/>
          <p:nvPr/>
        </p:nvCxnSpPr>
        <p:spPr>
          <a:xfrm rot="10800000">
            <a:off x="1812948" y="4851419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7"/>
          <p:cNvCxnSpPr/>
          <p:nvPr/>
        </p:nvCxnSpPr>
        <p:spPr>
          <a:xfrm rot="10800000">
            <a:off x="1741307" y="4713700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7"/>
          <p:cNvCxnSpPr/>
          <p:nvPr/>
        </p:nvCxnSpPr>
        <p:spPr>
          <a:xfrm rot="10800000">
            <a:off x="1681985" y="4570415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7"/>
          <p:cNvCxnSpPr/>
          <p:nvPr/>
        </p:nvCxnSpPr>
        <p:spPr>
          <a:xfrm rot="10800000">
            <a:off x="1635527" y="4422612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7"/>
          <p:cNvCxnSpPr/>
          <p:nvPr/>
        </p:nvCxnSpPr>
        <p:spPr>
          <a:xfrm rot="10800000">
            <a:off x="1601784" y="4271080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7"/>
          <p:cNvCxnSpPr/>
          <p:nvPr/>
        </p:nvCxnSpPr>
        <p:spPr>
          <a:xfrm rot="10800000">
            <a:off x="1581712" y="4117246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7"/>
          <p:cNvCxnSpPr/>
          <p:nvPr/>
        </p:nvCxnSpPr>
        <p:spPr>
          <a:xfrm rot="10800000">
            <a:off x="1574666" y="3962263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7"/>
          <p:cNvCxnSpPr/>
          <p:nvPr/>
        </p:nvCxnSpPr>
        <p:spPr>
          <a:xfrm flipH="1" rot="10800000">
            <a:off x="1574800" y="3807300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7"/>
          <p:cNvCxnSpPr/>
          <p:nvPr/>
        </p:nvCxnSpPr>
        <p:spPr>
          <a:xfrm flipH="1" rot="10800000">
            <a:off x="1581566" y="3653537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7"/>
          <p:cNvCxnSpPr/>
          <p:nvPr/>
        </p:nvCxnSpPr>
        <p:spPr>
          <a:xfrm flipH="1" rot="10800000">
            <a:off x="1601812" y="3502154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7"/>
          <p:cNvCxnSpPr/>
          <p:nvPr/>
        </p:nvCxnSpPr>
        <p:spPr>
          <a:xfrm flipH="1" rot="10800000">
            <a:off x="1635384" y="335432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7"/>
          <p:cNvCxnSpPr/>
          <p:nvPr/>
        </p:nvCxnSpPr>
        <p:spPr>
          <a:xfrm flipH="1" rot="10800000">
            <a:off x="1682027" y="3210888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7"/>
          <p:cNvCxnSpPr/>
          <p:nvPr/>
        </p:nvCxnSpPr>
        <p:spPr>
          <a:xfrm flipH="1" rot="10800000">
            <a:off x="1741385" y="307328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7"/>
          <p:cNvCxnSpPr/>
          <p:nvPr/>
        </p:nvCxnSpPr>
        <p:spPr>
          <a:xfrm flipH="1" rot="10800000">
            <a:off x="1813007" y="29426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7"/>
          <p:cNvCxnSpPr/>
          <p:nvPr/>
        </p:nvCxnSpPr>
        <p:spPr>
          <a:xfrm flipH="1" rot="10800000">
            <a:off x="1896348" y="2819581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7"/>
          <p:cNvCxnSpPr/>
          <p:nvPr/>
        </p:nvCxnSpPr>
        <p:spPr>
          <a:xfrm flipH="1" rot="10800000">
            <a:off x="1990773" y="2705224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7"/>
          <p:cNvCxnSpPr/>
          <p:nvPr/>
        </p:nvCxnSpPr>
        <p:spPr>
          <a:xfrm flipH="1" rot="10800000">
            <a:off x="2095564" y="2600464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7"/>
          <p:cNvSpPr/>
          <p:nvPr/>
        </p:nvSpPr>
        <p:spPr>
          <a:xfrm>
            <a:off x="4786288" y="3336154"/>
            <a:ext cx="635100" cy="6351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3124200" y="1955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1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2273300" y="2552700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Ситуация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4267076" y="23717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2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3416176" y="2041573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Эмоция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4875188" y="3425054"/>
            <a:ext cx="457200" cy="457200"/>
          </a:xfrm>
          <a:prstGeom prst="ellipse">
            <a:avLst/>
          </a:prstGeom>
          <a:solidFill>
            <a:srgbClr val="245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CFCFB"/>
                </a:solidFill>
              </a:rPr>
              <a:t>3</a:t>
            </a:r>
            <a:endParaRPr sz="1800">
              <a:solidFill>
                <a:srgbClr val="FCFCFB"/>
              </a:solidFill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4635500" y="3044054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Импульс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4841793" y="4800600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3910112" y="55823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2693888" y="55823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1762207" y="4800600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1551012" y="3602854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2159124" y="25495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7150100" y="2501900"/>
            <a:ext cx="4381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Импульс</a:t>
            </a:r>
            <a:endParaRPr sz="38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7150100" y="3479800"/>
            <a:ext cx="425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43B37"/>
                </a:solidFill>
              </a:rPr>
              <a:t>Первый порыв — сразу согласиться, поверить обещанию или отложить всё на потом.</a:t>
            </a:r>
            <a:endParaRPr sz="2200">
              <a:solidFill>
                <a:srgbClr val="343B3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Авторский подход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6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23875" y="977900"/>
            <a:ext cx="1113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От ситуации — к осмысленному действию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14" name="Google Shape;314;p8"/>
          <p:cNvCxnSpPr/>
          <p:nvPr/>
        </p:nvCxnSpPr>
        <p:spPr>
          <a:xfrm>
            <a:off x="3352800" y="21844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8"/>
          <p:cNvCxnSpPr/>
          <p:nvPr/>
        </p:nvCxnSpPr>
        <p:spPr>
          <a:xfrm>
            <a:off x="3507763" y="2191166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8"/>
          <p:cNvCxnSpPr/>
          <p:nvPr/>
        </p:nvCxnSpPr>
        <p:spPr>
          <a:xfrm>
            <a:off x="3661546" y="2211412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8"/>
          <p:cNvCxnSpPr/>
          <p:nvPr/>
        </p:nvCxnSpPr>
        <p:spPr>
          <a:xfrm>
            <a:off x="3812980" y="2244984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8"/>
          <p:cNvCxnSpPr/>
          <p:nvPr/>
        </p:nvCxnSpPr>
        <p:spPr>
          <a:xfrm>
            <a:off x="3960912" y="2291627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8"/>
          <p:cNvCxnSpPr/>
          <p:nvPr/>
        </p:nvCxnSpPr>
        <p:spPr>
          <a:xfrm>
            <a:off x="4104215" y="235098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8"/>
          <p:cNvCxnSpPr/>
          <p:nvPr/>
        </p:nvCxnSpPr>
        <p:spPr>
          <a:xfrm>
            <a:off x="4241800" y="2422607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8"/>
          <p:cNvCxnSpPr/>
          <p:nvPr/>
        </p:nvCxnSpPr>
        <p:spPr>
          <a:xfrm>
            <a:off x="4372619" y="2505948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8"/>
          <p:cNvCxnSpPr/>
          <p:nvPr/>
        </p:nvCxnSpPr>
        <p:spPr>
          <a:xfrm>
            <a:off x="4495676" y="2600373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8"/>
          <p:cNvCxnSpPr/>
          <p:nvPr/>
        </p:nvCxnSpPr>
        <p:spPr>
          <a:xfrm>
            <a:off x="4610036" y="2705164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8"/>
          <p:cNvCxnSpPr/>
          <p:nvPr/>
        </p:nvCxnSpPr>
        <p:spPr>
          <a:xfrm>
            <a:off x="4714827" y="2819524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8"/>
          <p:cNvCxnSpPr/>
          <p:nvPr/>
        </p:nvCxnSpPr>
        <p:spPr>
          <a:xfrm>
            <a:off x="4809252" y="2942581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8"/>
          <p:cNvCxnSpPr/>
          <p:nvPr/>
        </p:nvCxnSpPr>
        <p:spPr>
          <a:xfrm>
            <a:off x="4892593" y="3073400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8"/>
          <p:cNvCxnSpPr/>
          <p:nvPr/>
        </p:nvCxnSpPr>
        <p:spPr>
          <a:xfrm>
            <a:off x="4964215" y="3210985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8"/>
          <p:cNvCxnSpPr/>
          <p:nvPr/>
        </p:nvCxnSpPr>
        <p:spPr>
          <a:xfrm>
            <a:off x="5023573" y="3354288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8"/>
          <p:cNvCxnSpPr/>
          <p:nvPr/>
        </p:nvCxnSpPr>
        <p:spPr>
          <a:xfrm>
            <a:off x="5070216" y="3502220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8"/>
          <p:cNvCxnSpPr/>
          <p:nvPr/>
        </p:nvCxnSpPr>
        <p:spPr>
          <a:xfrm>
            <a:off x="5103788" y="3653654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8"/>
          <p:cNvCxnSpPr/>
          <p:nvPr/>
        </p:nvCxnSpPr>
        <p:spPr>
          <a:xfrm>
            <a:off x="5124034" y="3807437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8"/>
          <p:cNvCxnSpPr/>
          <p:nvPr/>
        </p:nvCxnSpPr>
        <p:spPr>
          <a:xfrm flipH="1">
            <a:off x="5123900" y="3962400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8"/>
          <p:cNvCxnSpPr/>
          <p:nvPr/>
        </p:nvCxnSpPr>
        <p:spPr>
          <a:xfrm flipH="1">
            <a:off x="5103934" y="4117363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8"/>
          <p:cNvCxnSpPr/>
          <p:nvPr/>
        </p:nvCxnSpPr>
        <p:spPr>
          <a:xfrm flipH="1">
            <a:off x="5070188" y="4271146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8"/>
          <p:cNvCxnSpPr/>
          <p:nvPr/>
        </p:nvCxnSpPr>
        <p:spPr>
          <a:xfrm flipH="1">
            <a:off x="5023716" y="4422580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8"/>
          <p:cNvCxnSpPr/>
          <p:nvPr/>
        </p:nvCxnSpPr>
        <p:spPr>
          <a:xfrm flipH="1">
            <a:off x="4964173" y="4570512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8"/>
          <p:cNvCxnSpPr/>
          <p:nvPr/>
        </p:nvCxnSpPr>
        <p:spPr>
          <a:xfrm flipH="1">
            <a:off x="4892515" y="4713815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8"/>
          <p:cNvCxnSpPr/>
          <p:nvPr/>
        </p:nvCxnSpPr>
        <p:spPr>
          <a:xfrm flipH="1">
            <a:off x="4809193" y="48514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8"/>
          <p:cNvCxnSpPr/>
          <p:nvPr/>
        </p:nvCxnSpPr>
        <p:spPr>
          <a:xfrm flipH="1">
            <a:off x="4714752" y="4982219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8"/>
          <p:cNvCxnSpPr/>
          <p:nvPr/>
        </p:nvCxnSpPr>
        <p:spPr>
          <a:xfrm flipH="1">
            <a:off x="4610127" y="5105276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8"/>
          <p:cNvCxnSpPr/>
          <p:nvPr/>
        </p:nvCxnSpPr>
        <p:spPr>
          <a:xfrm flipH="1">
            <a:off x="4495736" y="5219636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8"/>
          <p:cNvCxnSpPr/>
          <p:nvPr/>
        </p:nvCxnSpPr>
        <p:spPr>
          <a:xfrm flipH="1">
            <a:off x="4372676" y="5324427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8"/>
          <p:cNvCxnSpPr/>
          <p:nvPr/>
        </p:nvCxnSpPr>
        <p:spPr>
          <a:xfrm flipH="1">
            <a:off x="4241819" y="5418852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8"/>
          <p:cNvCxnSpPr/>
          <p:nvPr/>
        </p:nvCxnSpPr>
        <p:spPr>
          <a:xfrm flipH="1">
            <a:off x="4104100" y="5502193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8"/>
          <p:cNvCxnSpPr/>
          <p:nvPr/>
        </p:nvCxnSpPr>
        <p:spPr>
          <a:xfrm flipH="1">
            <a:off x="3960815" y="5573815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8"/>
          <p:cNvCxnSpPr/>
          <p:nvPr/>
        </p:nvCxnSpPr>
        <p:spPr>
          <a:xfrm flipH="1">
            <a:off x="3813012" y="5633173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8"/>
          <p:cNvCxnSpPr/>
          <p:nvPr/>
        </p:nvCxnSpPr>
        <p:spPr>
          <a:xfrm flipH="1">
            <a:off x="3661480" y="5679816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8"/>
          <p:cNvCxnSpPr/>
          <p:nvPr/>
        </p:nvCxnSpPr>
        <p:spPr>
          <a:xfrm flipH="1">
            <a:off x="3507646" y="5713388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8"/>
          <p:cNvCxnSpPr/>
          <p:nvPr/>
        </p:nvCxnSpPr>
        <p:spPr>
          <a:xfrm flipH="1">
            <a:off x="3352663" y="5733634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8"/>
          <p:cNvCxnSpPr/>
          <p:nvPr/>
        </p:nvCxnSpPr>
        <p:spPr>
          <a:xfrm rot="10800000">
            <a:off x="3197700" y="5733500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8"/>
          <p:cNvCxnSpPr/>
          <p:nvPr/>
        </p:nvCxnSpPr>
        <p:spPr>
          <a:xfrm rot="10800000">
            <a:off x="3043937" y="5713534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8"/>
          <p:cNvCxnSpPr/>
          <p:nvPr/>
        </p:nvCxnSpPr>
        <p:spPr>
          <a:xfrm rot="10800000">
            <a:off x="2892554" y="5679788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8"/>
          <p:cNvCxnSpPr/>
          <p:nvPr/>
        </p:nvCxnSpPr>
        <p:spPr>
          <a:xfrm rot="10800000">
            <a:off x="2744720" y="5633316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8"/>
          <p:cNvCxnSpPr/>
          <p:nvPr/>
        </p:nvCxnSpPr>
        <p:spPr>
          <a:xfrm rot="10800000">
            <a:off x="2601288" y="5573773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8"/>
          <p:cNvCxnSpPr/>
          <p:nvPr/>
        </p:nvCxnSpPr>
        <p:spPr>
          <a:xfrm rot="10800000">
            <a:off x="2463685" y="5502115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8"/>
          <p:cNvCxnSpPr/>
          <p:nvPr/>
        </p:nvCxnSpPr>
        <p:spPr>
          <a:xfrm rot="10800000">
            <a:off x="2333000" y="5418793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8"/>
          <p:cNvCxnSpPr/>
          <p:nvPr/>
        </p:nvCxnSpPr>
        <p:spPr>
          <a:xfrm rot="10800000">
            <a:off x="2209981" y="5324352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8"/>
          <p:cNvCxnSpPr/>
          <p:nvPr/>
        </p:nvCxnSpPr>
        <p:spPr>
          <a:xfrm rot="10800000">
            <a:off x="2095624" y="5219727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8"/>
          <p:cNvCxnSpPr/>
          <p:nvPr/>
        </p:nvCxnSpPr>
        <p:spPr>
          <a:xfrm rot="10800000">
            <a:off x="1990864" y="5105336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8"/>
          <p:cNvCxnSpPr/>
          <p:nvPr/>
        </p:nvCxnSpPr>
        <p:spPr>
          <a:xfrm rot="10800000">
            <a:off x="1896273" y="4982276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8"/>
          <p:cNvCxnSpPr/>
          <p:nvPr/>
        </p:nvCxnSpPr>
        <p:spPr>
          <a:xfrm rot="10800000">
            <a:off x="1812948" y="4851419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8"/>
          <p:cNvCxnSpPr/>
          <p:nvPr/>
        </p:nvCxnSpPr>
        <p:spPr>
          <a:xfrm rot="10800000">
            <a:off x="1741307" y="4713700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8"/>
          <p:cNvCxnSpPr/>
          <p:nvPr/>
        </p:nvCxnSpPr>
        <p:spPr>
          <a:xfrm rot="10800000">
            <a:off x="1681985" y="4570415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8"/>
          <p:cNvCxnSpPr/>
          <p:nvPr/>
        </p:nvCxnSpPr>
        <p:spPr>
          <a:xfrm rot="10800000">
            <a:off x="1635527" y="4422612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8"/>
          <p:cNvCxnSpPr/>
          <p:nvPr/>
        </p:nvCxnSpPr>
        <p:spPr>
          <a:xfrm rot="10800000">
            <a:off x="1601784" y="4271080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8"/>
          <p:cNvCxnSpPr/>
          <p:nvPr/>
        </p:nvCxnSpPr>
        <p:spPr>
          <a:xfrm rot="10800000">
            <a:off x="1581712" y="4117246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8"/>
          <p:cNvCxnSpPr/>
          <p:nvPr/>
        </p:nvCxnSpPr>
        <p:spPr>
          <a:xfrm rot="10800000">
            <a:off x="1574666" y="3962263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8"/>
          <p:cNvCxnSpPr/>
          <p:nvPr/>
        </p:nvCxnSpPr>
        <p:spPr>
          <a:xfrm flipH="1" rot="10800000">
            <a:off x="1574800" y="3807300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8"/>
          <p:cNvCxnSpPr/>
          <p:nvPr/>
        </p:nvCxnSpPr>
        <p:spPr>
          <a:xfrm flipH="1" rot="10800000">
            <a:off x="1581566" y="3653537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8"/>
          <p:cNvCxnSpPr/>
          <p:nvPr/>
        </p:nvCxnSpPr>
        <p:spPr>
          <a:xfrm flipH="1" rot="10800000">
            <a:off x="1601812" y="3502154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8"/>
          <p:cNvCxnSpPr/>
          <p:nvPr/>
        </p:nvCxnSpPr>
        <p:spPr>
          <a:xfrm flipH="1" rot="10800000">
            <a:off x="1635384" y="335432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8"/>
          <p:cNvCxnSpPr/>
          <p:nvPr/>
        </p:nvCxnSpPr>
        <p:spPr>
          <a:xfrm flipH="1" rot="10800000">
            <a:off x="1682027" y="3210888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8"/>
          <p:cNvCxnSpPr/>
          <p:nvPr/>
        </p:nvCxnSpPr>
        <p:spPr>
          <a:xfrm flipH="1" rot="10800000">
            <a:off x="1741385" y="307328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8"/>
          <p:cNvCxnSpPr/>
          <p:nvPr/>
        </p:nvCxnSpPr>
        <p:spPr>
          <a:xfrm flipH="1" rot="10800000">
            <a:off x="1813007" y="29426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8"/>
          <p:cNvCxnSpPr/>
          <p:nvPr/>
        </p:nvCxnSpPr>
        <p:spPr>
          <a:xfrm flipH="1" rot="10800000">
            <a:off x="1896348" y="2819581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8"/>
          <p:cNvCxnSpPr/>
          <p:nvPr/>
        </p:nvCxnSpPr>
        <p:spPr>
          <a:xfrm flipH="1" rot="10800000">
            <a:off x="1990773" y="2705224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8"/>
          <p:cNvCxnSpPr/>
          <p:nvPr/>
        </p:nvCxnSpPr>
        <p:spPr>
          <a:xfrm flipH="1" rot="10800000">
            <a:off x="2095564" y="2600464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8"/>
          <p:cNvSpPr/>
          <p:nvPr/>
        </p:nvSpPr>
        <p:spPr>
          <a:xfrm>
            <a:off x="4575093" y="4533900"/>
            <a:ext cx="635100" cy="6351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3124200" y="1955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1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80" name="Google Shape;380;p8"/>
          <p:cNvSpPr txBox="1"/>
          <p:nvPr/>
        </p:nvSpPr>
        <p:spPr>
          <a:xfrm>
            <a:off x="2273300" y="2552700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Ситуация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4267076" y="23717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2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82" name="Google Shape;382;p8"/>
          <p:cNvSpPr txBox="1"/>
          <p:nvPr/>
        </p:nvSpPr>
        <p:spPr>
          <a:xfrm>
            <a:off x="3416176" y="2041573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Эмоция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4875188" y="3425054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3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84" name="Google Shape;384;p8"/>
          <p:cNvSpPr txBox="1"/>
          <p:nvPr/>
        </p:nvSpPr>
        <p:spPr>
          <a:xfrm>
            <a:off x="4635500" y="3044054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Импульс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4663993" y="4622800"/>
            <a:ext cx="457200" cy="457200"/>
          </a:xfrm>
          <a:prstGeom prst="ellipse">
            <a:avLst/>
          </a:prstGeom>
          <a:solidFill>
            <a:srgbClr val="245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CFCFB"/>
                </a:solidFill>
              </a:rPr>
              <a:t>4</a:t>
            </a:r>
            <a:endParaRPr sz="1800">
              <a:solidFill>
                <a:srgbClr val="FCFCFB"/>
              </a:solidFill>
            </a:endParaRPr>
          </a:p>
        </p:txBody>
      </p:sp>
      <p:sp>
        <p:nvSpPr>
          <p:cNvPr id="386" name="Google Shape;386;p8"/>
          <p:cNvSpPr txBox="1"/>
          <p:nvPr/>
        </p:nvSpPr>
        <p:spPr>
          <a:xfrm>
            <a:off x="4635500" y="5232400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Пауза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3910112" y="55823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2693888" y="55823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1762207" y="4800600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1551012" y="3602854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2159124" y="25495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392" name="Google Shape;392;p8"/>
          <p:cNvSpPr txBox="1"/>
          <p:nvPr/>
        </p:nvSpPr>
        <p:spPr>
          <a:xfrm>
            <a:off x="7150100" y="2501900"/>
            <a:ext cx="4381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Пауза</a:t>
            </a:r>
            <a:endParaRPr sz="38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3" name="Google Shape;393;p8"/>
          <p:cNvSpPr txBox="1"/>
          <p:nvPr/>
        </p:nvSpPr>
        <p:spPr>
          <a:xfrm>
            <a:off x="7150100" y="3479800"/>
            <a:ext cx="425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43B37"/>
                </a:solidFill>
              </a:rPr>
              <a:t>Пауза даёт время разобраться в деталях и обдумать первый порыв.</a:t>
            </a:r>
            <a:endParaRPr sz="2200">
              <a:solidFill>
                <a:srgbClr val="343B3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Авторский подход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7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523875" y="977900"/>
            <a:ext cx="1113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От ситуации — к осмысленному действию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04" name="Google Shape;404;p9"/>
          <p:cNvCxnSpPr/>
          <p:nvPr/>
        </p:nvCxnSpPr>
        <p:spPr>
          <a:xfrm>
            <a:off x="3352800" y="21844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9"/>
          <p:cNvCxnSpPr/>
          <p:nvPr/>
        </p:nvCxnSpPr>
        <p:spPr>
          <a:xfrm>
            <a:off x="3507763" y="2191166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9"/>
          <p:cNvCxnSpPr/>
          <p:nvPr/>
        </p:nvCxnSpPr>
        <p:spPr>
          <a:xfrm>
            <a:off x="3661546" y="2211412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9"/>
          <p:cNvCxnSpPr/>
          <p:nvPr/>
        </p:nvCxnSpPr>
        <p:spPr>
          <a:xfrm>
            <a:off x="3812980" y="2244984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9"/>
          <p:cNvCxnSpPr/>
          <p:nvPr/>
        </p:nvCxnSpPr>
        <p:spPr>
          <a:xfrm>
            <a:off x="3960912" y="2291627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9"/>
          <p:cNvCxnSpPr/>
          <p:nvPr/>
        </p:nvCxnSpPr>
        <p:spPr>
          <a:xfrm>
            <a:off x="4104215" y="235098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9"/>
          <p:cNvCxnSpPr/>
          <p:nvPr/>
        </p:nvCxnSpPr>
        <p:spPr>
          <a:xfrm>
            <a:off x="4241800" y="2422607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9"/>
          <p:cNvCxnSpPr/>
          <p:nvPr/>
        </p:nvCxnSpPr>
        <p:spPr>
          <a:xfrm>
            <a:off x="4372619" y="2505948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9"/>
          <p:cNvCxnSpPr/>
          <p:nvPr/>
        </p:nvCxnSpPr>
        <p:spPr>
          <a:xfrm>
            <a:off x="4495676" y="2600373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9"/>
          <p:cNvCxnSpPr/>
          <p:nvPr/>
        </p:nvCxnSpPr>
        <p:spPr>
          <a:xfrm>
            <a:off x="4610036" y="2705164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9"/>
          <p:cNvCxnSpPr/>
          <p:nvPr/>
        </p:nvCxnSpPr>
        <p:spPr>
          <a:xfrm>
            <a:off x="4714827" y="2819524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9"/>
          <p:cNvCxnSpPr/>
          <p:nvPr/>
        </p:nvCxnSpPr>
        <p:spPr>
          <a:xfrm>
            <a:off x="4809252" y="2942581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9"/>
          <p:cNvCxnSpPr/>
          <p:nvPr/>
        </p:nvCxnSpPr>
        <p:spPr>
          <a:xfrm>
            <a:off x="4892593" y="3073400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9"/>
          <p:cNvCxnSpPr/>
          <p:nvPr/>
        </p:nvCxnSpPr>
        <p:spPr>
          <a:xfrm>
            <a:off x="4964215" y="3210985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9"/>
          <p:cNvCxnSpPr/>
          <p:nvPr/>
        </p:nvCxnSpPr>
        <p:spPr>
          <a:xfrm>
            <a:off x="5023573" y="3354288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9"/>
          <p:cNvCxnSpPr/>
          <p:nvPr/>
        </p:nvCxnSpPr>
        <p:spPr>
          <a:xfrm>
            <a:off x="5070216" y="3502220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9"/>
          <p:cNvCxnSpPr/>
          <p:nvPr/>
        </p:nvCxnSpPr>
        <p:spPr>
          <a:xfrm>
            <a:off x="5103788" y="3653654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9"/>
          <p:cNvCxnSpPr/>
          <p:nvPr/>
        </p:nvCxnSpPr>
        <p:spPr>
          <a:xfrm>
            <a:off x="5124034" y="3807437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9"/>
          <p:cNvCxnSpPr/>
          <p:nvPr/>
        </p:nvCxnSpPr>
        <p:spPr>
          <a:xfrm flipH="1">
            <a:off x="5123900" y="3962400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9"/>
          <p:cNvCxnSpPr/>
          <p:nvPr/>
        </p:nvCxnSpPr>
        <p:spPr>
          <a:xfrm flipH="1">
            <a:off x="5103934" y="4117363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9"/>
          <p:cNvCxnSpPr/>
          <p:nvPr/>
        </p:nvCxnSpPr>
        <p:spPr>
          <a:xfrm flipH="1">
            <a:off x="5070188" y="4271146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9"/>
          <p:cNvCxnSpPr/>
          <p:nvPr/>
        </p:nvCxnSpPr>
        <p:spPr>
          <a:xfrm flipH="1">
            <a:off x="5023716" y="4422580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9"/>
          <p:cNvCxnSpPr/>
          <p:nvPr/>
        </p:nvCxnSpPr>
        <p:spPr>
          <a:xfrm flipH="1">
            <a:off x="4964173" y="4570512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9"/>
          <p:cNvCxnSpPr/>
          <p:nvPr/>
        </p:nvCxnSpPr>
        <p:spPr>
          <a:xfrm flipH="1">
            <a:off x="4892515" y="4713815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9"/>
          <p:cNvCxnSpPr/>
          <p:nvPr/>
        </p:nvCxnSpPr>
        <p:spPr>
          <a:xfrm flipH="1">
            <a:off x="4809193" y="4851400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9"/>
          <p:cNvCxnSpPr/>
          <p:nvPr/>
        </p:nvCxnSpPr>
        <p:spPr>
          <a:xfrm flipH="1">
            <a:off x="4714752" y="4982219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9"/>
          <p:cNvCxnSpPr/>
          <p:nvPr/>
        </p:nvCxnSpPr>
        <p:spPr>
          <a:xfrm flipH="1">
            <a:off x="4610127" y="5105276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9"/>
          <p:cNvCxnSpPr/>
          <p:nvPr/>
        </p:nvCxnSpPr>
        <p:spPr>
          <a:xfrm flipH="1">
            <a:off x="4495736" y="5219636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9"/>
          <p:cNvCxnSpPr/>
          <p:nvPr/>
        </p:nvCxnSpPr>
        <p:spPr>
          <a:xfrm flipH="1">
            <a:off x="4372676" y="5324427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9"/>
          <p:cNvCxnSpPr/>
          <p:nvPr/>
        </p:nvCxnSpPr>
        <p:spPr>
          <a:xfrm flipH="1">
            <a:off x="4241819" y="5418852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9"/>
          <p:cNvCxnSpPr/>
          <p:nvPr/>
        </p:nvCxnSpPr>
        <p:spPr>
          <a:xfrm flipH="1">
            <a:off x="4104100" y="5502193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9"/>
          <p:cNvCxnSpPr/>
          <p:nvPr/>
        </p:nvCxnSpPr>
        <p:spPr>
          <a:xfrm flipH="1">
            <a:off x="3960815" y="5573815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9"/>
          <p:cNvCxnSpPr/>
          <p:nvPr/>
        </p:nvCxnSpPr>
        <p:spPr>
          <a:xfrm flipH="1">
            <a:off x="3813012" y="5633173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9"/>
          <p:cNvCxnSpPr/>
          <p:nvPr/>
        </p:nvCxnSpPr>
        <p:spPr>
          <a:xfrm flipH="1">
            <a:off x="3661480" y="5679816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9"/>
          <p:cNvCxnSpPr/>
          <p:nvPr/>
        </p:nvCxnSpPr>
        <p:spPr>
          <a:xfrm flipH="1">
            <a:off x="3507646" y="5713388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9"/>
          <p:cNvCxnSpPr/>
          <p:nvPr/>
        </p:nvCxnSpPr>
        <p:spPr>
          <a:xfrm flipH="1">
            <a:off x="3352663" y="5733634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9"/>
          <p:cNvCxnSpPr/>
          <p:nvPr/>
        </p:nvCxnSpPr>
        <p:spPr>
          <a:xfrm rot="10800000">
            <a:off x="3197700" y="5733500"/>
            <a:ext cx="155100" cy="6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9"/>
          <p:cNvCxnSpPr/>
          <p:nvPr/>
        </p:nvCxnSpPr>
        <p:spPr>
          <a:xfrm rot="10800000">
            <a:off x="3043937" y="5713534"/>
            <a:ext cx="153900" cy="20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rot="10800000">
            <a:off x="2892554" y="5679788"/>
            <a:ext cx="151500" cy="336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 rot="10800000">
            <a:off x="2744720" y="5633316"/>
            <a:ext cx="147900" cy="46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9"/>
          <p:cNvCxnSpPr/>
          <p:nvPr/>
        </p:nvCxnSpPr>
        <p:spPr>
          <a:xfrm rot="10800000">
            <a:off x="2601288" y="5573773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9"/>
          <p:cNvCxnSpPr/>
          <p:nvPr/>
        </p:nvCxnSpPr>
        <p:spPr>
          <a:xfrm rot="10800000">
            <a:off x="2463685" y="5502115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9"/>
          <p:cNvCxnSpPr/>
          <p:nvPr/>
        </p:nvCxnSpPr>
        <p:spPr>
          <a:xfrm rot="10800000">
            <a:off x="2333000" y="5418793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9"/>
          <p:cNvCxnSpPr/>
          <p:nvPr/>
        </p:nvCxnSpPr>
        <p:spPr>
          <a:xfrm rot="10800000">
            <a:off x="2209981" y="5324352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9"/>
          <p:cNvCxnSpPr/>
          <p:nvPr/>
        </p:nvCxnSpPr>
        <p:spPr>
          <a:xfrm rot="10800000">
            <a:off x="2095624" y="5219727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9"/>
          <p:cNvCxnSpPr/>
          <p:nvPr/>
        </p:nvCxnSpPr>
        <p:spPr>
          <a:xfrm rot="10800000">
            <a:off x="1990864" y="5105336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9"/>
          <p:cNvCxnSpPr/>
          <p:nvPr/>
        </p:nvCxnSpPr>
        <p:spPr>
          <a:xfrm rot="10800000">
            <a:off x="1896273" y="4982276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9"/>
          <p:cNvCxnSpPr/>
          <p:nvPr/>
        </p:nvCxnSpPr>
        <p:spPr>
          <a:xfrm rot="10800000">
            <a:off x="1812948" y="4851419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9"/>
          <p:cNvCxnSpPr/>
          <p:nvPr/>
        </p:nvCxnSpPr>
        <p:spPr>
          <a:xfrm rot="10800000">
            <a:off x="1741307" y="4713700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9"/>
          <p:cNvCxnSpPr/>
          <p:nvPr/>
        </p:nvCxnSpPr>
        <p:spPr>
          <a:xfrm rot="10800000">
            <a:off x="1681985" y="4570415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9"/>
          <p:cNvCxnSpPr/>
          <p:nvPr/>
        </p:nvCxnSpPr>
        <p:spPr>
          <a:xfrm rot="10800000">
            <a:off x="1635527" y="4422612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9"/>
          <p:cNvCxnSpPr/>
          <p:nvPr/>
        </p:nvCxnSpPr>
        <p:spPr>
          <a:xfrm rot="10800000">
            <a:off x="1601784" y="4271080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9"/>
          <p:cNvCxnSpPr/>
          <p:nvPr/>
        </p:nvCxnSpPr>
        <p:spPr>
          <a:xfrm rot="10800000">
            <a:off x="1581712" y="4117246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9"/>
          <p:cNvCxnSpPr/>
          <p:nvPr/>
        </p:nvCxnSpPr>
        <p:spPr>
          <a:xfrm rot="10800000">
            <a:off x="1574666" y="3962263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9"/>
          <p:cNvCxnSpPr/>
          <p:nvPr/>
        </p:nvCxnSpPr>
        <p:spPr>
          <a:xfrm flipH="1" rot="10800000">
            <a:off x="1574800" y="3807300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9"/>
          <p:cNvCxnSpPr/>
          <p:nvPr/>
        </p:nvCxnSpPr>
        <p:spPr>
          <a:xfrm flipH="1" rot="10800000">
            <a:off x="1581566" y="3653537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9"/>
          <p:cNvCxnSpPr/>
          <p:nvPr/>
        </p:nvCxnSpPr>
        <p:spPr>
          <a:xfrm flipH="1" rot="10800000">
            <a:off x="1601812" y="3502154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9"/>
          <p:cNvCxnSpPr/>
          <p:nvPr/>
        </p:nvCxnSpPr>
        <p:spPr>
          <a:xfrm flipH="1" rot="10800000">
            <a:off x="1635384" y="335432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9"/>
          <p:cNvCxnSpPr/>
          <p:nvPr/>
        </p:nvCxnSpPr>
        <p:spPr>
          <a:xfrm flipH="1" rot="10800000">
            <a:off x="1682027" y="3210888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9"/>
          <p:cNvCxnSpPr/>
          <p:nvPr/>
        </p:nvCxnSpPr>
        <p:spPr>
          <a:xfrm flipH="1" rot="10800000">
            <a:off x="1741385" y="307328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9"/>
          <p:cNvCxnSpPr/>
          <p:nvPr/>
        </p:nvCxnSpPr>
        <p:spPr>
          <a:xfrm flipH="1" rot="10800000">
            <a:off x="1813007" y="29426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9"/>
          <p:cNvCxnSpPr/>
          <p:nvPr/>
        </p:nvCxnSpPr>
        <p:spPr>
          <a:xfrm flipH="1" rot="10800000">
            <a:off x="1896348" y="2819581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9"/>
          <p:cNvCxnSpPr/>
          <p:nvPr/>
        </p:nvCxnSpPr>
        <p:spPr>
          <a:xfrm flipH="1" rot="10800000">
            <a:off x="1990773" y="2705224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9"/>
          <p:cNvCxnSpPr/>
          <p:nvPr/>
        </p:nvCxnSpPr>
        <p:spPr>
          <a:xfrm flipH="1" rot="10800000">
            <a:off x="2095564" y="2600464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9"/>
          <p:cNvSpPr/>
          <p:nvPr/>
        </p:nvSpPr>
        <p:spPr>
          <a:xfrm>
            <a:off x="3643412" y="5315673"/>
            <a:ext cx="635100" cy="6351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9"/>
          <p:cNvSpPr/>
          <p:nvPr/>
        </p:nvSpPr>
        <p:spPr>
          <a:xfrm>
            <a:off x="3124200" y="1955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1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470" name="Google Shape;470;p9"/>
          <p:cNvSpPr txBox="1"/>
          <p:nvPr/>
        </p:nvSpPr>
        <p:spPr>
          <a:xfrm>
            <a:off x="2273300" y="2552700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Ситуация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4267076" y="23717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2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472" name="Google Shape;472;p9"/>
          <p:cNvSpPr txBox="1"/>
          <p:nvPr/>
        </p:nvSpPr>
        <p:spPr>
          <a:xfrm>
            <a:off x="3416176" y="2041573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Эмоция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4875188" y="3425054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3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474" name="Google Shape;474;p9"/>
          <p:cNvSpPr txBox="1"/>
          <p:nvPr/>
        </p:nvSpPr>
        <p:spPr>
          <a:xfrm>
            <a:off x="4635500" y="3044054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Импульс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4663993" y="4622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4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476" name="Google Shape;476;p9"/>
          <p:cNvSpPr txBox="1"/>
          <p:nvPr/>
        </p:nvSpPr>
        <p:spPr>
          <a:xfrm>
            <a:off x="4635500" y="5232400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Пауза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3732312" y="5404573"/>
            <a:ext cx="457200" cy="457200"/>
          </a:xfrm>
          <a:prstGeom prst="ellipse">
            <a:avLst/>
          </a:prstGeom>
          <a:solidFill>
            <a:srgbClr val="245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CFCFB"/>
                </a:solidFill>
              </a:rPr>
              <a:t>5</a:t>
            </a:r>
            <a:endParaRPr sz="1800">
              <a:solidFill>
                <a:srgbClr val="FCFCFB"/>
              </a:solidFill>
            </a:endParaRPr>
          </a:p>
        </p:txBody>
      </p:sp>
      <p:sp>
        <p:nvSpPr>
          <p:cNvPr id="478" name="Google Shape;478;p9"/>
          <p:cNvSpPr txBox="1"/>
          <p:nvPr/>
        </p:nvSpPr>
        <p:spPr>
          <a:xfrm>
            <a:off x="3465612" y="6001473"/>
            <a:ext cx="990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Риск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2693888" y="55823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1762207" y="4800600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1551012" y="3602854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2159124" y="25495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483" name="Google Shape;483;p9"/>
          <p:cNvSpPr txBox="1"/>
          <p:nvPr/>
        </p:nvSpPr>
        <p:spPr>
          <a:xfrm>
            <a:off x="7150100" y="2501900"/>
            <a:ext cx="4381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Риск</a:t>
            </a:r>
            <a:endParaRPr sz="38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4" name="Google Shape;484;p9"/>
          <p:cNvSpPr txBox="1"/>
          <p:nvPr/>
        </p:nvSpPr>
        <p:spPr>
          <a:xfrm>
            <a:off x="7150100" y="3479800"/>
            <a:ext cx="425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43B37"/>
                </a:solidFill>
              </a:rPr>
              <a:t>Выбор может обернуться лишними расходами, пропущенным сроком или утечкой личных данных.</a:t>
            </a:r>
            <a:endParaRPr sz="2200">
              <a:solidFill>
                <a:srgbClr val="343B3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0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491" name="Google Shape;491;p10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Авторский подход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0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8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523875" y="977900"/>
            <a:ext cx="1113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От ситуации — к осмысленному действию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495" name="Google Shape;495;p10"/>
          <p:cNvCxnSpPr/>
          <p:nvPr/>
        </p:nvCxnSpPr>
        <p:spPr>
          <a:xfrm>
            <a:off x="3352800" y="21844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10"/>
          <p:cNvCxnSpPr/>
          <p:nvPr/>
        </p:nvCxnSpPr>
        <p:spPr>
          <a:xfrm>
            <a:off x="3507763" y="2191166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10"/>
          <p:cNvCxnSpPr/>
          <p:nvPr/>
        </p:nvCxnSpPr>
        <p:spPr>
          <a:xfrm>
            <a:off x="3661546" y="2211412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10"/>
          <p:cNvCxnSpPr/>
          <p:nvPr/>
        </p:nvCxnSpPr>
        <p:spPr>
          <a:xfrm>
            <a:off x="3812980" y="2244984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10"/>
          <p:cNvCxnSpPr/>
          <p:nvPr/>
        </p:nvCxnSpPr>
        <p:spPr>
          <a:xfrm>
            <a:off x="3960912" y="2291627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10"/>
          <p:cNvCxnSpPr/>
          <p:nvPr/>
        </p:nvCxnSpPr>
        <p:spPr>
          <a:xfrm>
            <a:off x="4104215" y="235098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10"/>
          <p:cNvCxnSpPr/>
          <p:nvPr/>
        </p:nvCxnSpPr>
        <p:spPr>
          <a:xfrm>
            <a:off x="4241800" y="2422607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10"/>
          <p:cNvCxnSpPr/>
          <p:nvPr/>
        </p:nvCxnSpPr>
        <p:spPr>
          <a:xfrm>
            <a:off x="4372619" y="2505948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10"/>
          <p:cNvCxnSpPr/>
          <p:nvPr/>
        </p:nvCxnSpPr>
        <p:spPr>
          <a:xfrm>
            <a:off x="4495676" y="2600373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10"/>
          <p:cNvCxnSpPr/>
          <p:nvPr/>
        </p:nvCxnSpPr>
        <p:spPr>
          <a:xfrm>
            <a:off x="4610036" y="2705164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>
            <a:off x="4714827" y="2819524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10"/>
          <p:cNvCxnSpPr/>
          <p:nvPr/>
        </p:nvCxnSpPr>
        <p:spPr>
          <a:xfrm>
            <a:off x="4809252" y="2942581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10"/>
          <p:cNvCxnSpPr/>
          <p:nvPr/>
        </p:nvCxnSpPr>
        <p:spPr>
          <a:xfrm>
            <a:off x="4892593" y="3073400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10"/>
          <p:cNvCxnSpPr/>
          <p:nvPr/>
        </p:nvCxnSpPr>
        <p:spPr>
          <a:xfrm>
            <a:off x="4964215" y="3210985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10"/>
          <p:cNvCxnSpPr/>
          <p:nvPr/>
        </p:nvCxnSpPr>
        <p:spPr>
          <a:xfrm>
            <a:off x="5023573" y="3354288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10"/>
          <p:cNvCxnSpPr/>
          <p:nvPr/>
        </p:nvCxnSpPr>
        <p:spPr>
          <a:xfrm>
            <a:off x="5070216" y="3502220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10"/>
          <p:cNvCxnSpPr/>
          <p:nvPr/>
        </p:nvCxnSpPr>
        <p:spPr>
          <a:xfrm>
            <a:off x="5103788" y="3653654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10"/>
          <p:cNvCxnSpPr/>
          <p:nvPr/>
        </p:nvCxnSpPr>
        <p:spPr>
          <a:xfrm>
            <a:off x="5124034" y="3807437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10"/>
          <p:cNvCxnSpPr/>
          <p:nvPr/>
        </p:nvCxnSpPr>
        <p:spPr>
          <a:xfrm flipH="1">
            <a:off x="5123900" y="3962400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10"/>
          <p:cNvCxnSpPr/>
          <p:nvPr/>
        </p:nvCxnSpPr>
        <p:spPr>
          <a:xfrm flipH="1">
            <a:off x="5103934" y="4117363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10"/>
          <p:cNvCxnSpPr/>
          <p:nvPr/>
        </p:nvCxnSpPr>
        <p:spPr>
          <a:xfrm flipH="1">
            <a:off x="5070188" y="4271146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10"/>
          <p:cNvCxnSpPr/>
          <p:nvPr/>
        </p:nvCxnSpPr>
        <p:spPr>
          <a:xfrm flipH="1">
            <a:off x="5023716" y="4422580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10"/>
          <p:cNvCxnSpPr/>
          <p:nvPr/>
        </p:nvCxnSpPr>
        <p:spPr>
          <a:xfrm flipH="1">
            <a:off x="4964173" y="4570512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10"/>
          <p:cNvCxnSpPr/>
          <p:nvPr/>
        </p:nvCxnSpPr>
        <p:spPr>
          <a:xfrm flipH="1">
            <a:off x="4892515" y="4713815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4809193" y="4851400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10"/>
          <p:cNvCxnSpPr/>
          <p:nvPr/>
        </p:nvCxnSpPr>
        <p:spPr>
          <a:xfrm flipH="1">
            <a:off x="4714752" y="4982219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10"/>
          <p:cNvCxnSpPr/>
          <p:nvPr/>
        </p:nvCxnSpPr>
        <p:spPr>
          <a:xfrm flipH="1">
            <a:off x="4610127" y="5105276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10"/>
          <p:cNvCxnSpPr/>
          <p:nvPr/>
        </p:nvCxnSpPr>
        <p:spPr>
          <a:xfrm flipH="1">
            <a:off x="4495736" y="5219636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10"/>
          <p:cNvCxnSpPr/>
          <p:nvPr/>
        </p:nvCxnSpPr>
        <p:spPr>
          <a:xfrm flipH="1">
            <a:off x="4372676" y="5324427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10"/>
          <p:cNvCxnSpPr/>
          <p:nvPr/>
        </p:nvCxnSpPr>
        <p:spPr>
          <a:xfrm flipH="1">
            <a:off x="4241819" y="5418852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10"/>
          <p:cNvCxnSpPr/>
          <p:nvPr/>
        </p:nvCxnSpPr>
        <p:spPr>
          <a:xfrm flipH="1">
            <a:off x="4104100" y="5502193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10"/>
          <p:cNvCxnSpPr/>
          <p:nvPr/>
        </p:nvCxnSpPr>
        <p:spPr>
          <a:xfrm flipH="1">
            <a:off x="3960815" y="5573815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10"/>
          <p:cNvCxnSpPr/>
          <p:nvPr/>
        </p:nvCxnSpPr>
        <p:spPr>
          <a:xfrm flipH="1">
            <a:off x="3813012" y="5633173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10"/>
          <p:cNvCxnSpPr/>
          <p:nvPr/>
        </p:nvCxnSpPr>
        <p:spPr>
          <a:xfrm flipH="1">
            <a:off x="3661480" y="5679816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10"/>
          <p:cNvCxnSpPr/>
          <p:nvPr/>
        </p:nvCxnSpPr>
        <p:spPr>
          <a:xfrm flipH="1">
            <a:off x="3507646" y="5713388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10"/>
          <p:cNvCxnSpPr/>
          <p:nvPr/>
        </p:nvCxnSpPr>
        <p:spPr>
          <a:xfrm flipH="1">
            <a:off x="3352663" y="5733634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10"/>
          <p:cNvCxnSpPr/>
          <p:nvPr/>
        </p:nvCxnSpPr>
        <p:spPr>
          <a:xfrm rot="10800000">
            <a:off x="3197700" y="57335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10"/>
          <p:cNvCxnSpPr/>
          <p:nvPr/>
        </p:nvCxnSpPr>
        <p:spPr>
          <a:xfrm rot="10800000">
            <a:off x="3043937" y="5713534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10"/>
          <p:cNvCxnSpPr/>
          <p:nvPr/>
        </p:nvCxnSpPr>
        <p:spPr>
          <a:xfrm rot="10800000">
            <a:off x="2892554" y="5679788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10"/>
          <p:cNvCxnSpPr/>
          <p:nvPr/>
        </p:nvCxnSpPr>
        <p:spPr>
          <a:xfrm rot="10800000">
            <a:off x="2744720" y="5633316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10"/>
          <p:cNvCxnSpPr/>
          <p:nvPr/>
        </p:nvCxnSpPr>
        <p:spPr>
          <a:xfrm rot="10800000">
            <a:off x="2601288" y="5573773"/>
            <a:ext cx="143400" cy="59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10"/>
          <p:cNvCxnSpPr/>
          <p:nvPr/>
        </p:nvCxnSpPr>
        <p:spPr>
          <a:xfrm rot="10800000">
            <a:off x="2463685" y="5502115"/>
            <a:ext cx="137700" cy="71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10"/>
          <p:cNvCxnSpPr/>
          <p:nvPr/>
        </p:nvCxnSpPr>
        <p:spPr>
          <a:xfrm rot="10800000">
            <a:off x="2333000" y="5418793"/>
            <a:ext cx="130800" cy="8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10"/>
          <p:cNvCxnSpPr/>
          <p:nvPr/>
        </p:nvCxnSpPr>
        <p:spPr>
          <a:xfrm rot="10800000">
            <a:off x="2209981" y="5324352"/>
            <a:ext cx="123000" cy="94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10"/>
          <p:cNvCxnSpPr/>
          <p:nvPr/>
        </p:nvCxnSpPr>
        <p:spPr>
          <a:xfrm rot="10800000">
            <a:off x="2095624" y="5219727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10"/>
          <p:cNvCxnSpPr/>
          <p:nvPr/>
        </p:nvCxnSpPr>
        <p:spPr>
          <a:xfrm rot="10800000">
            <a:off x="1990864" y="5105336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10"/>
          <p:cNvCxnSpPr/>
          <p:nvPr/>
        </p:nvCxnSpPr>
        <p:spPr>
          <a:xfrm rot="10800000">
            <a:off x="1896273" y="4982276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10"/>
          <p:cNvCxnSpPr/>
          <p:nvPr/>
        </p:nvCxnSpPr>
        <p:spPr>
          <a:xfrm rot="10800000">
            <a:off x="1812948" y="4851419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10"/>
          <p:cNvCxnSpPr/>
          <p:nvPr/>
        </p:nvCxnSpPr>
        <p:spPr>
          <a:xfrm rot="10800000">
            <a:off x="1741307" y="4713700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10"/>
          <p:cNvCxnSpPr/>
          <p:nvPr/>
        </p:nvCxnSpPr>
        <p:spPr>
          <a:xfrm rot="10800000">
            <a:off x="1681985" y="4570415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10"/>
          <p:cNvCxnSpPr/>
          <p:nvPr/>
        </p:nvCxnSpPr>
        <p:spPr>
          <a:xfrm rot="10800000">
            <a:off x="1635527" y="4422612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10"/>
          <p:cNvCxnSpPr/>
          <p:nvPr/>
        </p:nvCxnSpPr>
        <p:spPr>
          <a:xfrm rot="10800000">
            <a:off x="1601784" y="4271080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10"/>
          <p:cNvCxnSpPr/>
          <p:nvPr/>
        </p:nvCxnSpPr>
        <p:spPr>
          <a:xfrm rot="10800000">
            <a:off x="1581712" y="4117246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10"/>
          <p:cNvCxnSpPr/>
          <p:nvPr/>
        </p:nvCxnSpPr>
        <p:spPr>
          <a:xfrm rot="10800000">
            <a:off x="1574666" y="3962263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10"/>
          <p:cNvCxnSpPr/>
          <p:nvPr/>
        </p:nvCxnSpPr>
        <p:spPr>
          <a:xfrm flipH="1" rot="10800000">
            <a:off x="1574800" y="3807300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10"/>
          <p:cNvCxnSpPr/>
          <p:nvPr/>
        </p:nvCxnSpPr>
        <p:spPr>
          <a:xfrm flipH="1" rot="10800000">
            <a:off x="1581566" y="3653537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10"/>
          <p:cNvCxnSpPr/>
          <p:nvPr/>
        </p:nvCxnSpPr>
        <p:spPr>
          <a:xfrm flipH="1" rot="10800000">
            <a:off x="1601812" y="3502154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0"/>
          <p:cNvCxnSpPr/>
          <p:nvPr/>
        </p:nvCxnSpPr>
        <p:spPr>
          <a:xfrm flipH="1" rot="10800000">
            <a:off x="1635384" y="335432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0"/>
          <p:cNvCxnSpPr/>
          <p:nvPr/>
        </p:nvCxnSpPr>
        <p:spPr>
          <a:xfrm flipH="1" rot="10800000">
            <a:off x="1682027" y="3210888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0"/>
          <p:cNvCxnSpPr/>
          <p:nvPr/>
        </p:nvCxnSpPr>
        <p:spPr>
          <a:xfrm flipH="1" rot="10800000">
            <a:off x="1741385" y="307328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10"/>
          <p:cNvCxnSpPr/>
          <p:nvPr/>
        </p:nvCxnSpPr>
        <p:spPr>
          <a:xfrm flipH="1" rot="10800000">
            <a:off x="1813007" y="29426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10"/>
          <p:cNvCxnSpPr/>
          <p:nvPr/>
        </p:nvCxnSpPr>
        <p:spPr>
          <a:xfrm flipH="1" rot="10800000">
            <a:off x="1896348" y="2819581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10"/>
          <p:cNvCxnSpPr/>
          <p:nvPr/>
        </p:nvCxnSpPr>
        <p:spPr>
          <a:xfrm flipH="1" rot="10800000">
            <a:off x="1990773" y="2705224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10"/>
          <p:cNvCxnSpPr/>
          <p:nvPr/>
        </p:nvCxnSpPr>
        <p:spPr>
          <a:xfrm flipH="1" rot="10800000">
            <a:off x="2095564" y="2600464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10"/>
          <p:cNvSpPr/>
          <p:nvPr/>
        </p:nvSpPr>
        <p:spPr>
          <a:xfrm>
            <a:off x="2427188" y="5315673"/>
            <a:ext cx="635100" cy="6351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0"/>
          <p:cNvSpPr/>
          <p:nvPr/>
        </p:nvSpPr>
        <p:spPr>
          <a:xfrm>
            <a:off x="3124200" y="1955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1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561" name="Google Shape;561;p10"/>
          <p:cNvSpPr txBox="1"/>
          <p:nvPr/>
        </p:nvSpPr>
        <p:spPr>
          <a:xfrm>
            <a:off x="2273300" y="2552700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Ситуация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562" name="Google Shape;562;p10"/>
          <p:cNvSpPr/>
          <p:nvPr/>
        </p:nvSpPr>
        <p:spPr>
          <a:xfrm>
            <a:off x="4267076" y="23717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2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563" name="Google Shape;563;p10"/>
          <p:cNvSpPr txBox="1"/>
          <p:nvPr/>
        </p:nvSpPr>
        <p:spPr>
          <a:xfrm>
            <a:off x="3416176" y="2041573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Эмоция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564" name="Google Shape;564;p10"/>
          <p:cNvSpPr/>
          <p:nvPr/>
        </p:nvSpPr>
        <p:spPr>
          <a:xfrm>
            <a:off x="4875188" y="3425054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3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565" name="Google Shape;565;p10"/>
          <p:cNvSpPr txBox="1"/>
          <p:nvPr/>
        </p:nvSpPr>
        <p:spPr>
          <a:xfrm>
            <a:off x="4635500" y="3044054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Импульс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566" name="Google Shape;566;p10"/>
          <p:cNvSpPr/>
          <p:nvPr/>
        </p:nvSpPr>
        <p:spPr>
          <a:xfrm>
            <a:off x="4663993" y="4622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4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567" name="Google Shape;567;p10"/>
          <p:cNvSpPr txBox="1"/>
          <p:nvPr/>
        </p:nvSpPr>
        <p:spPr>
          <a:xfrm>
            <a:off x="4635500" y="5232400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Пауза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568" name="Google Shape;568;p10"/>
          <p:cNvSpPr/>
          <p:nvPr/>
        </p:nvSpPr>
        <p:spPr>
          <a:xfrm>
            <a:off x="3732312" y="54045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5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569" name="Google Shape;569;p10"/>
          <p:cNvSpPr txBox="1"/>
          <p:nvPr/>
        </p:nvSpPr>
        <p:spPr>
          <a:xfrm>
            <a:off x="3465612" y="6001473"/>
            <a:ext cx="990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Риск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570" name="Google Shape;570;p10"/>
          <p:cNvSpPr/>
          <p:nvPr/>
        </p:nvSpPr>
        <p:spPr>
          <a:xfrm>
            <a:off x="2516088" y="5404573"/>
            <a:ext cx="457200" cy="457200"/>
          </a:xfrm>
          <a:prstGeom prst="ellipse">
            <a:avLst/>
          </a:prstGeom>
          <a:solidFill>
            <a:srgbClr val="245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CFCFB"/>
                </a:solidFill>
              </a:rPr>
              <a:t>6</a:t>
            </a:r>
            <a:endParaRPr sz="1800">
              <a:solidFill>
                <a:srgbClr val="FCFCFB"/>
              </a:solidFill>
            </a:endParaRPr>
          </a:p>
        </p:txBody>
      </p:sp>
      <p:sp>
        <p:nvSpPr>
          <p:cNvPr id="571" name="Google Shape;571;p10"/>
          <p:cNvSpPr txBox="1"/>
          <p:nvPr/>
        </p:nvSpPr>
        <p:spPr>
          <a:xfrm>
            <a:off x="1830288" y="6001473"/>
            <a:ext cx="1828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Осознание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572" name="Google Shape;572;p10"/>
          <p:cNvSpPr/>
          <p:nvPr/>
        </p:nvSpPr>
        <p:spPr>
          <a:xfrm>
            <a:off x="1762207" y="4800600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573" name="Google Shape;573;p10"/>
          <p:cNvSpPr/>
          <p:nvPr/>
        </p:nvSpPr>
        <p:spPr>
          <a:xfrm>
            <a:off x="1551012" y="3602854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574" name="Google Shape;574;p10"/>
          <p:cNvSpPr/>
          <p:nvPr/>
        </p:nvSpPr>
        <p:spPr>
          <a:xfrm>
            <a:off x="2159124" y="25495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575" name="Google Shape;575;p10"/>
          <p:cNvSpPr txBox="1"/>
          <p:nvPr/>
        </p:nvSpPr>
        <p:spPr>
          <a:xfrm>
            <a:off x="7150100" y="2501900"/>
            <a:ext cx="4381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Осознание</a:t>
            </a:r>
            <a:endParaRPr sz="38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6" name="Google Shape;576;p10"/>
          <p:cNvSpPr txBox="1"/>
          <p:nvPr/>
        </p:nvSpPr>
        <p:spPr>
          <a:xfrm>
            <a:off x="7150100" y="3479800"/>
            <a:ext cx="425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43B37"/>
                </a:solidFill>
              </a:rPr>
              <a:t>Проясняется то, от чего зависит решение. Например, деньги есть, но к дате платежа они ещё недоступны.</a:t>
            </a:r>
            <a:endParaRPr sz="2200">
              <a:solidFill>
                <a:srgbClr val="343B3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1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583" name="Google Shape;583;p11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Авторский подход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584" name="Google Shape;584;p11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1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9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586" name="Google Shape;586;p11"/>
          <p:cNvSpPr/>
          <p:nvPr/>
        </p:nvSpPr>
        <p:spPr>
          <a:xfrm>
            <a:off x="523875" y="977900"/>
            <a:ext cx="1113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От ситуации — к осмысленному действию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587" name="Google Shape;587;p11"/>
          <p:cNvCxnSpPr/>
          <p:nvPr/>
        </p:nvCxnSpPr>
        <p:spPr>
          <a:xfrm>
            <a:off x="3352800" y="21844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11"/>
          <p:cNvCxnSpPr/>
          <p:nvPr/>
        </p:nvCxnSpPr>
        <p:spPr>
          <a:xfrm>
            <a:off x="3507763" y="2191166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11"/>
          <p:cNvCxnSpPr/>
          <p:nvPr/>
        </p:nvCxnSpPr>
        <p:spPr>
          <a:xfrm>
            <a:off x="3661546" y="2211412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11"/>
          <p:cNvCxnSpPr/>
          <p:nvPr/>
        </p:nvCxnSpPr>
        <p:spPr>
          <a:xfrm>
            <a:off x="3812980" y="2244984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11"/>
          <p:cNvCxnSpPr/>
          <p:nvPr/>
        </p:nvCxnSpPr>
        <p:spPr>
          <a:xfrm>
            <a:off x="3960912" y="2291627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11"/>
          <p:cNvCxnSpPr/>
          <p:nvPr/>
        </p:nvCxnSpPr>
        <p:spPr>
          <a:xfrm>
            <a:off x="4104215" y="235098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11"/>
          <p:cNvCxnSpPr/>
          <p:nvPr/>
        </p:nvCxnSpPr>
        <p:spPr>
          <a:xfrm>
            <a:off x="4241800" y="2422607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11"/>
          <p:cNvCxnSpPr/>
          <p:nvPr/>
        </p:nvCxnSpPr>
        <p:spPr>
          <a:xfrm>
            <a:off x="4372619" y="2505948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11"/>
          <p:cNvCxnSpPr/>
          <p:nvPr/>
        </p:nvCxnSpPr>
        <p:spPr>
          <a:xfrm>
            <a:off x="4495676" y="2600373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11"/>
          <p:cNvCxnSpPr/>
          <p:nvPr/>
        </p:nvCxnSpPr>
        <p:spPr>
          <a:xfrm>
            <a:off x="4610036" y="2705164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11"/>
          <p:cNvCxnSpPr/>
          <p:nvPr/>
        </p:nvCxnSpPr>
        <p:spPr>
          <a:xfrm>
            <a:off x="4714827" y="2819524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11"/>
          <p:cNvCxnSpPr/>
          <p:nvPr/>
        </p:nvCxnSpPr>
        <p:spPr>
          <a:xfrm>
            <a:off x="4809252" y="2942581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11"/>
          <p:cNvCxnSpPr/>
          <p:nvPr/>
        </p:nvCxnSpPr>
        <p:spPr>
          <a:xfrm>
            <a:off x="4892593" y="3073400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11"/>
          <p:cNvCxnSpPr/>
          <p:nvPr/>
        </p:nvCxnSpPr>
        <p:spPr>
          <a:xfrm>
            <a:off x="4964215" y="3210985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11"/>
          <p:cNvCxnSpPr/>
          <p:nvPr/>
        </p:nvCxnSpPr>
        <p:spPr>
          <a:xfrm>
            <a:off x="5023573" y="3354288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11"/>
          <p:cNvCxnSpPr/>
          <p:nvPr/>
        </p:nvCxnSpPr>
        <p:spPr>
          <a:xfrm>
            <a:off x="5070216" y="3502220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11"/>
          <p:cNvCxnSpPr/>
          <p:nvPr/>
        </p:nvCxnSpPr>
        <p:spPr>
          <a:xfrm>
            <a:off x="5103788" y="3653654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11"/>
          <p:cNvCxnSpPr/>
          <p:nvPr/>
        </p:nvCxnSpPr>
        <p:spPr>
          <a:xfrm>
            <a:off x="5124034" y="3807437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11"/>
          <p:cNvCxnSpPr/>
          <p:nvPr/>
        </p:nvCxnSpPr>
        <p:spPr>
          <a:xfrm flipH="1">
            <a:off x="5123900" y="3962400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11"/>
          <p:cNvCxnSpPr/>
          <p:nvPr/>
        </p:nvCxnSpPr>
        <p:spPr>
          <a:xfrm flipH="1">
            <a:off x="5103934" y="4117363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11"/>
          <p:cNvCxnSpPr/>
          <p:nvPr/>
        </p:nvCxnSpPr>
        <p:spPr>
          <a:xfrm flipH="1">
            <a:off x="5070188" y="4271146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11"/>
          <p:cNvCxnSpPr/>
          <p:nvPr/>
        </p:nvCxnSpPr>
        <p:spPr>
          <a:xfrm flipH="1">
            <a:off x="5023716" y="4422580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11"/>
          <p:cNvCxnSpPr/>
          <p:nvPr/>
        </p:nvCxnSpPr>
        <p:spPr>
          <a:xfrm flipH="1">
            <a:off x="4964173" y="4570512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11"/>
          <p:cNvCxnSpPr/>
          <p:nvPr/>
        </p:nvCxnSpPr>
        <p:spPr>
          <a:xfrm flipH="1">
            <a:off x="4892515" y="4713815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11"/>
          <p:cNvCxnSpPr/>
          <p:nvPr/>
        </p:nvCxnSpPr>
        <p:spPr>
          <a:xfrm flipH="1">
            <a:off x="4809193" y="4851400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11"/>
          <p:cNvCxnSpPr/>
          <p:nvPr/>
        </p:nvCxnSpPr>
        <p:spPr>
          <a:xfrm flipH="1">
            <a:off x="4714752" y="4982219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11"/>
          <p:cNvCxnSpPr/>
          <p:nvPr/>
        </p:nvCxnSpPr>
        <p:spPr>
          <a:xfrm flipH="1">
            <a:off x="4610127" y="5105276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11"/>
          <p:cNvCxnSpPr/>
          <p:nvPr/>
        </p:nvCxnSpPr>
        <p:spPr>
          <a:xfrm flipH="1">
            <a:off x="4495736" y="5219636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11"/>
          <p:cNvCxnSpPr/>
          <p:nvPr/>
        </p:nvCxnSpPr>
        <p:spPr>
          <a:xfrm flipH="1">
            <a:off x="4372676" y="5324427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11"/>
          <p:cNvCxnSpPr/>
          <p:nvPr/>
        </p:nvCxnSpPr>
        <p:spPr>
          <a:xfrm flipH="1">
            <a:off x="4241819" y="5418852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11"/>
          <p:cNvCxnSpPr/>
          <p:nvPr/>
        </p:nvCxnSpPr>
        <p:spPr>
          <a:xfrm flipH="1">
            <a:off x="4104100" y="5502193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11"/>
          <p:cNvCxnSpPr/>
          <p:nvPr/>
        </p:nvCxnSpPr>
        <p:spPr>
          <a:xfrm flipH="1">
            <a:off x="3960815" y="5573815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11"/>
          <p:cNvCxnSpPr/>
          <p:nvPr/>
        </p:nvCxnSpPr>
        <p:spPr>
          <a:xfrm flipH="1">
            <a:off x="3813012" y="5633173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11"/>
          <p:cNvCxnSpPr/>
          <p:nvPr/>
        </p:nvCxnSpPr>
        <p:spPr>
          <a:xfrm flipH="1">
            <a:off x="3661480" y="5679816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11"/>
          <p:cNvCxnSpPr/>
          <p:nvPr/>
        </p:nvCxnSpPr>
        <p:spPr>
          <a:xfrm flipH="1">
            <a:off x="3507646" y="5713388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11"/>
          <p:cNvCxnSpPr/>
          <p:nvPr/>
        </p:nvCxnSpPr>
        <p:spPr>
          <a:xfrm flipH="1">
            <a:off x="3352663" y="5733634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11"/>
          <p:cNvCxnSpPr/>
          <p:nvPr/>
        </p:nvCxnSpPr>
        <p:spPr>
          <a:xfrm rot="10800000">
            <a:off x="3197700" y="57335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11"/>
          <p:cNvCxnSpPr/>
          <p:nvPr/>
        </p:nvCxnSpPr>
        <p:spPr>
          <a:xfrm rot="10800000">
            <a:off x="3043937" y="5713534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11"/>
          <p:cNvCxnSpPr/>
          <p:nvPr/>
        </p:nvCxnSpPr>
        <p:spPr>
          <a:xfrm rot="10800000">
            <a:off x="2892554" y="5679788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11"/>
          <p:cNvCxnSpPr/>
          <p:nvPr/>
        </p:nvCxnSpPr>
        <p:spPr>
          <a:xfrm rot="10800000">
            <a:off x="2744720" y="5633316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11"/>
          <p:cNvCxnSpPr/>
          <p:nvPr/>
        </p:nvCxnSpPr>
        <p:spPr>
          <a:xfrm rot="10800000">
            <a:off x="2601288" y="5573773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11"/>
          <p:cNvCxnSpPr/>
          <p:nvPr/>
        </p:nvCxnSpPr>
        <p:spPr>
          <a:xfrm rot="10800000">
            <a:off x="2463685" y="550211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11"/>
          <p:cNvCxnSpPr/>
          <p:nvPr/>
        </p:nvCxnSpPr>
        <p:spPr>
          <a:xfrm rot="10800000">
            <a:off x="2333000" y="5418793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11"/>
          <p:cNvCxnSpPr/>
          <p:nvPr/>
        </p:nvCxnSpPr>
        <p:spPr>
          <a:xfrm rot="10800000">
            <a:off x="2209981" y="5324352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11"/>
          <p:cNvCxnSpPr/>
          <p:nvPr/>
        </p:nvCxnSpPr>
        <p:spPr>
          <a:xfrm rot="10800000">
            <a:off x="2095624" y="5219727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11"/>
          <p:cNvCxnSpPr/>
          <p:nvPr/>
        </p:nvCxnSpPr>
        <p:spPr>
          <a:xfrm rot="10800000">
            <a:off x="1990864" y="5105336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11"/>
          <p:cNvCxnSpPr/>
          <p:nvPr/>
        </p:nvCxnSpPr>
        <p:spPr>
          <a:xfrm rot="10800000">
            <a:off x="1896273" y="4982276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11"/>
          <p:cNvCxnSpPr/>
          <p:nvPr/>
        </p:nvCxnSpPr>
        <p:spPr>
          <a:xfrm rot="10800000">
            <a:off x="1812948" y="4851419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11"/>
          <p:cNvCxnSpPr/>
          <p:nvPr/>
        </p:nvCxnSpPr>
        <p:spPr>
          <a:xfrm rot="10800000">
            <a:off x="1741307" y="4713700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11"/>
          <p:cNvCxnSpPr/>
          <p:nvPr/>
        </p:nvCxnSpPr>
        <p:spPr>
          <a:xfrm rot="10800000">
            <a:off x="1681985" y="4570415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11"/>
          <p:cNvCxnSpPr/>
          <p:nvPr/>
        </p:nvCxnSpPr>
        <p:spPr>
          <a:xfrm rot="10800000">
            <a:off x="1635527" y="4422612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11"/>
          <p:cNvCxnSpPr/>
          <p:nvPr/>
        </p:nvCxnSpPr>
        <p:spPr>
          <a:xfrm rot="10800000">
            <a:off x="1601784" y="4271080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11"/>
          <p:cNvCxnSpPr/>
          <p:nvPr/>
        </p:nvCxnSpPr>
        <p:spPr>
          <a:xfrm rot="10800000">
            <a:off x="1581712" y="4117246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11"/>
          <p:cNvCxnSpPr/>
          <p:nvPr/>
        </p:nvCxnSpPr>
        <p:spPr>
          <a:xfrm rot="10800000">
            <a:off x="1574666" y="3962263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11"/>
          <p:cNvCxnSpPr/>
          <p:nvPr/>
        </p:nvCxnSpPr>
        <p:spPr>
          <a:xfrm flipH="1" rot="10800000">
            <a:off x="1574800" y="3807300"/>
            <a:ext cx="6900" cy="1551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11"/>
          <p:cNvCxnSpPr/>
          <p:nvPr/>
        </p:nvCxnSpPr>
        <p:spPr>
          <a:xfrm flipH="1" rot="10800000">
            <a:off x="1581566" y="3653537"/>
            <a:ext cx="20100" cy="153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11"/>
          <p:cNvCxnSpPr/>
          <p:nvPr/>
        </p:nvCxnSpPr>
        <p:spPr>
          <a:xfrm flipH="1" rot="10800000">
            <a:off x="1601812" y="3502154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11"/>
          <p:cNvCxnSpPr/>
          <p:nvPr/>
        </p:nvCxnSpPr>
        <p:spPr>
          <a:xfrm flipH="1" rot="10800000">
            <a:off x="1635384" y="335432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11"/>
          <p:cNvCxnSpPr/>
          <p:nvPr/>
        </p:nvCxnSpPr>
        <p:spPr>
          <a:xfrm flipH="1" rot="10800000">
            <a:off x="1682027" y="3210888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11"/>
          <p:cNvCxnSpPr/>
          <p:nvPr/>
        </p:nvCxnSpPr>
        <p:spPr>
          <a:xfrm flipH="1" rot="10800000">
            <a:off x="1741385" y="307328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11"/>
          <p:cNvCxnSpPr/>
          <p:nvPr/>
        </p:nvCxnSpPr>
        <p:spPr>
          <a:xfrm flipH="1" rot="10800000">
            <a:off x="1813007" y="29426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11"/>
          <p:cNvCxnSpPr/>
          <p:nvPr/>
        </p:nvCxnSpPr>
        <p:spPr>
          <a:xfrm flipH="1" rot="10800000">
            <a:off x="1896348" y="2819581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11"/>
          <p:cNvCxnSpPr/>
          <p:nvPr/>
        </p:nvCxnSpPr>
        <p:spPr>
          <a:xfrm flipH="1" rot="10800000">
            <a:off x="1990773" y="2705224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11"/>
          <p:cNvCxnSpPr/>
          <p:nvPr/>
        </p:nvCxnSpPr>
        <p:spPr>
          <a:xfrm flipH="1" rot="10800000">
            <a:off x="2095564" y="2600464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11"/>
          <p:cNvSpPr/>
          <p:nvPr/>
        </p:nvSpPr>
        <p:spPr>
          <a:xfrm>
            <a:off x="1495507" y="4533900"/>
            <a:ext cx="635100" cy="6351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1"/>
          <p:cNvSpPr/>
          <p:nvPr/>
        </p:nvSpPr>
        <p:spPr>
          <a:xfrm>
            <a:off x="3124200" y="1955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1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653" name="Google Shape;653;p11"/>
          <p:cNvSpPr txBox="1"/>
          <p:nvPr/>
        </p:nvSpPr>
        <p:spPr>
          <a:xfrm>
            <a:off x="2273300" y="2552700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Ситуация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654" name="Google Shape;654;p11"/>
          <p:cNvSpPr/>
          <p:nvPr/>
        </p:nvSpPr>
        <p:spPr>
          <a:xfrm>
            <a:off x="4267076" y="23717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2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655" name="Google Shape;655;p11"/>
          <p:cNvSpPr txBox="1"/>
          <p:nvPr/>
        </p:nvSpPr>
        <p:spPr>
          <a:xfrm>
            <a:off x="3416176" y="2041573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Эмоция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656" name="Google Shape;656;p11"/>
          <p:cNvSpPr/>
          <p:nvPr/>
        </p:nvSpPr>
        <p:spPr>
          <a:xfrm>
            <a:off x="4875188" y="3425054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3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657" name="Google Shape;657;p11"/>
          <p:cNvSpPr txBox="1"/>
          <p:nvPr/>
        </p:nvSpPr>
        <p:spPr>
          <a:xfrm>
            <a:off x="4635500" y="3044054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Импульс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658" name="Google Shape;658;p11"/>
          <p:cNvSpPr/>
          <p:nvPr/>
        </p:nvSpPr>
        <p:spPr>
          <a:xfrm>
            <a:off x="4663993" y="4622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4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659" name="Google Shape;659;p11"/>
          <p:cNvSpPr txBox="1"/>
          <p:nvPr/>
        </p:nvSpPr>
        <p:spPr>
          <a:xfrm>
            <a:off x="4635500" y="5232400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Пауза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660" name="Google Shape;660;p11"/>
          <p:cNvSpPr/>
          <p:nvPr/>
        </p:nvSpPr>
        <p:spPr>
          <a:xfrm>
            <a:off x="3732312" y="54045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5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661" name="Google Shape;661;p11"/>
          <p:cNvSpPr txBox="1"/>
          <p:nvPr/>
        </p:nvSpPr>
        <p:spPr>
          <a:xfrm>
            <a:off x="3465612" y="6001473"/>
            <a:ext cx="990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Риск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662" name="Google Shape;662;p11"/>
          <p:cNvSpPr/>
          <p:nvPr/>
        </p:nvSpPr>
        <p:spPr>
          <a:xfrm>
            <a:off x="2516088" y="54045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6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663" name="Google Shape;663;p11"/>
          <p:cNvSpPr txBox="1"/>
          <p:nvPr/>
        </p:nvSpPr>
        <p:spPr>
          <a:xfrm>
            <a:off x="1830288" y="6001473"/>
            <a:ext cx="1828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Осознание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664" name="Google Shape;664;p11"/>
          <p:cNvSpPr/>
          <p:nvPr/>
        </p:nvSpPr>
        <p:spPr>
          <a:xfrm>
            <a:off x="1584407" y="4622800"/>
            <a:ext cx="457200" cy="457200"/>
          </a:xfrm>
          <a:prstGeom prst="ellipse">
            <a:avLst/>
          </a:prstGeom>
          <a:solidFill>
            <a:srgbClr val="245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CFCFB"/>
                </a:solidFill>
              </a:rPr>
              <a:t>7</a:t>
            </a:r>
            <a:endParaRPr sz="1800">
              <a:solidFill>
                <a:srgbClr val="FCFCFB"/>
              </a:solidFill>
            </a:endParaRPr>
          </a:p>
        </p:txBody>
      </p:sp>
      <p:sp>
        <p:nvSpPr>
          <p:cNvPr id="665" name="Google Shape;665;p11"/>
          <p:cNvSpPr txBox="1"/>
          <p:nvPr/>
        </p:nvSpPr>
        <p:spPr>
          <a:xfrm>
            <a:off x="431800" y="5232400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Инструмент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666" name="Google Shape;666;p11"/>
          <p:cNvSpPr/>
          <p:nvPr/>
        </p:nvSpPr>
        <p:spPr>
          <a:xfrm>
            <a:off x="1551012" y="3602854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667" name="Google Shape;667;p11"/>
          <p:cNvSpPr/>
          <p:nvPr/>
        </p:nvSpPr>
        <p:spPr>
          <a:xfrm>
            <a:off x="2159124" y="25495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668" name="Google Shape;668;p11"/>
          <p:cNvSpPr txBox="1"/>
          <p:nvPr/>
        </p:nvSpPr>
        <p:spPr>
          <a:xfrm>
            <a:off x="7150100" y="2501900"/>
            <a:ext cx="4381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Инструмент</a:t>
            </a:r>
            <a:endParaRPr sz="38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9" name="Google Shape;669;p11"/>
          <p:cNvSpPr txBox="1"/>
          <p:nvPr/>
        </p:nvSpPr>
        <p:spPr>
          <a:xfrm>
            <a:off x="7150100" y="3479800"/>
            <a:ext cx="425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43B37"/>
                </a:solidFill>
              </a:rPr>
              <a:t>Календарь, расчёт, договор или официальный источник помогают проверить детали, на которых строится решение.</a:t>
            </a:r>
            <a:endParaRPr sz="2200">
              <a:solidFill>
                <a:srgbClr val="343B3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2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676" name="Google Shape;676;p12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Авторский подход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677" name="Google Shape;677;p12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2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10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679" name="Google Shape;679;p12"/>
          <p:cNvSpPr/>
          <p:nvPr/>
        </p:nvSpPr>
        <p:spPr>
          <a:xfrm>
            <a:off x="523875" y="977900"/>
            <a:ext cx="1113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От ситуации — к осмысленному действию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80" name="Google Shape;680;p12"/>
          <p:cNvCxnSpPr/>
          <p:nvPr/>
        </p:nvCxnSpPr>
        <p:spPr>
          <a:xfrm>
            <a:off x="3352800" y="21844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12"/>
          <p:cNvCxnSpPr/>
          <p:nvPr/>
        </p:nvCxnSpPr>
        <p:spPr>
          <a:xfrm>
            <a:off x="3507763" y="2191166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12"/>
          <p:cNvCxnSpPr/>
          <p:nvPr/>
        </p:nvCxnSpPr>
        <p:spPr>
          <a:xfrm>
            <a:off x="3661546" y="2211412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12"/>
          <p:cNvCxnSpPr/>
          <p:nvPr/>
        </p:nvCxnSpPr>
        <p:spPr>
          <a:xfrm>
            <a:off x="3812980" y="2244984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12"/>
          <p:cNvCxnSpPr/>
          <p:nvPr/>
        </p:nvCxnSpPr>
        <p:spPr>
          <a:xfrm>
            <a:off x="3960912" y="2291627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12"/>
          <p:cNvCxnSpPr/>
          <p:nvPr/>
        </p:nvCxnSpPr>
        <p:spPr>
          <a:xfrm>
            <a:off x="4104215" y="235098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12"/>
          <p:cNvCxnSpPr/>
          <p:nvPr/>
        </p:nvCxnSpPr>
        <p:spPr>
          <a:xfrm>
            <a:off x="4241800" y="2422607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12"/>
          <p:cNvCxnSpPr/>
          <p:nvPr/>
        </p:nvCxnSpPr>
        <p:spPr>
          <a:xfrm>
            <a:off x="4372619" y="2505948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12"/>
          <p:cNvCxnSpPr/>
          <p:nvPr/>
        </p:nvCxnSpPr>
        <p:spPr>
          <a:xfrm>
            <a:off x="4495676" y="2600373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12"/>
          <p:cNvCxnSpPr/>
          <p:nvPr/>
        </p:nvCxnSpPr>
        <p:spPr>
          <a:xfrm>
            <a:off x="4610036" y="2705164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12"/>
          <p:cNvCxnSpPr/>
          <p:nvPr/>
        </p:nvCxnSpPr>
        <p:spPr>
          <a:xfrm>
            <a:off x="4714827" y="2819524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12"/>
          <p:cNvCxnSpPr/>
          <p:nvPr/>
        </p:nvCxnSpPr>
        <p:spPr>
          <a:xfrm>
            <a:off x="4809252" y="2942581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12"/>
          <p:cNvCxnSpPr/>
          <p:nvPr/>
        </p:nvCxnSpPr>
        <p:spPr>
          <a:xfrm>
            <a:off x="4892593" y="3073400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12"/>
          <p:cNvCxnSpPr/>
          <p:nvPr/>
        </p:nvCxnSpPr>
        <p:spPr>
          <a:xfrm>
            <a:off x="4964215" y="3210985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12"/>
          <p:cNvCxnSpPr/>
          <p:nvPr/>
        </p:nvCxnSpPr>
        <p:spPr>
          <a:xfrm>
            <a:off x="5023573" y="3354288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12"/>
          <p:cNvCxnSpPr/>
          <p:nvPr/>
        </p:nvCxnSpPr>
        <p:spPr>
          <a:xfrm>
            <a:off x="5070216" y="3502220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12"/>
          <p:cNvCxnSpPr/>
          <p:nvPr/>
        </p:nvCxnSpPr>
        <p:spPr>
          <a:xfrm>
            <a:off x="5103788" y="3653654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12"/>
          <p:cNvCxnSpPr/>
          <p:nvPr/>
        </p:nvCxnSpPr>
        <p:spPr>
          <a:xfrm>
            <a:off x="5124034" y="3807437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12"/>
          <p:cNvCxnSpPr/>
          <p:nvPr/>
        </p:nvCxnSpPr>
        <p:spPr>
          <a:xfrm flipH="1">
            <a:off x="5123900" y="3962400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12"/>
          <p:cNvCxnSpPr/>
          <p:nvPr/>
        </p:nvCxnSpPr>
        <p:spPr>
          <a:xfrm flipH="1">
            <a:off x="5103934" y="4117363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12"/>
          <p:cNvCxnSpPr/>
          <p:nvPr/>
        </p:nvCxnSpPr>
        <p:spPr>
          <a:xfrm flipH="1">
            <a:off x="5070188" y="4271146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12"/>
          <p:cNvCxnSpPr/>
          <p:nvPr/>
        </p:nvCxnSpPr>
        <p:spPr>
          <a:xfrm flipH="1">
            <a:off x="5023716" y="4422580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12"/>
          <p:cNvCxnSpPr/>
          <p:nvPr/>
        </p:nvCxnSpPr>
        <p:spPr>
          <a:xfrm flipH="1">
            <a:off x="4964173" y="4570512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12"/>
          <p:cNvCxnSpPr/>
          <p:nvPr/>
        </p:nvCxnSpPr>
        <p:spPr>
          <a:xfrm flipH="1">
            <a:off x="4892515" y="4713815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12"/>
          <p:cNvCxnSpPr/>
          <p:nvPr/>
        </p:nvCxnSpPr>
        <p:spPr>
          <a:xfrm flipH="1">
            <a:off x="4809193" y="4851400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12"/>
          <p:cNvCxnSpPr/>
          <p:nvPr/>
        </p:nvCxnSpPr>
        <p:spPr>
          <a:xfrm flipH="1">
            <a:off x="4714752" y="4982219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12"/>
          <p:cNvCxnSpPr/>
          <p:nvPr/>
        </p:nvCxnSpPr>
        <p:spPr>
          <a:xfrm flipH="1">
            <a:off x="4610127" y="5105276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12"/>
          <p:cNvCxnSpPr/>
          <p:nvPr/>
        </p:nvCxnSpPr>
        <p:spPr>
          <a:xfrm flipH="1">
            <a:off x="4495736" y="5219636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12"/>
          <p:cNvCxnSpPr/>
          <p:nvPr/>
        </p:nvCxnSpPr>
        <p:spPr>
          <a:xfrm flipH="1">
            <a:off x="4372676" y="5324427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12"/>
          <p:cNvCxnSpPr/>
          <p:nvPr/>
        </p:nvCxnSpPr>
        <p:spPr>
          <a:xfrm flipH="1">
            <a:off x="4241819" y="5418852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12"/>
          <p:cNvCxnSpPr/>
          <p:nvPr/>
        </p:nvCxnSpPr>
        <p:spPr>
          <a:xfrm flipH="1">
            <a:off x="4104100" y="5502193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12"/>
          <p:cNvCxnSpPr/>
          <p:nvPr/>
        </p:nvCxnSpPr>
        <p:spPr>
          <a:xfrm flipH="1">
            <a:off x="3960815" y="5573815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12"/>
          <p:cNvCxnSpPr/>
          <p:nvPr/>
        </p:nvCxnSpPr>
        <p:spPr>
          <a:xfrm flipH="1">
            <a:off x="3813012" y="5633173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12"/>
          <p:cNvCxnSpPr/>
          <p:nvPr/>
        </p:nvCxnSpPr>
        <p:spPr>
          <a:xfrm flipH="1">
            <a:off x="3661480" y="5679816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12"/>
          <p:cNvCxnSpPr/>
          <p:nvPr/>
        </p:nvCxnSpPr>
        <p:spPr>
          <a:xfrm flipH="1">
            <a:off x="3507646" y="5713388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12"/>
          <p:cNvCxnSpPr/>
          <p:nvPr/>
        </p:nvCxnSpPr>
        <p:spPr>
          <a:xfrm flipH="1">
            <a:off x="3352663" y="5733634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12"/>
          <p:cNvCxnSpPr/>
          <p:nvPr/>
        </p:nvCxnSpPr>
        <p:spPr>
          <a:xfrm rot="10800000">
            <a:off x="3197700" y="57335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12"/>
          <p:cNvCxnSpPr/>
          <p:nvPr/>
        </p:nvCxnSpPr>
        <p:spPr>
          <a:xfrm rot="10800000">
            <a:off x="3043937" y="5713534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12"/>
          <p:cNvCxnSpPr/>
          <p:nvPr/>
        </p:nvCxnSpPr>
        <p:spPr>
          <a:xfrm rot="10800000">
            <a:off x="2892554" y="5679788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12"/>
          <p:cNvCxnSpPr/>
          <p:nvPr/>
        </p:nvCxnSpPr>
        <p:spPr>
          <a:xfrm rot="10800000">
            <a:off x="2744720" y="5633316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12"/>
          <p:cNvCxnSpPr/>
          <p:nvPr/>
        </p:nvCxnSpPr>
        <p:spPr>
          <a:xfrm rot="10800000">
            <a:off x="2601288" y="5573773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12"/>
          <p:cNvCxnSpPr/>
          <p:nvPr/>
        </p:nvCxnSpPr>
        <p:spPr>
          <a:xfrm rot="10800000">
            <a:off x="2463685" y="550211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12"/>
          <p:cNvCxnSpPr/>
          <p:nvPr/>
        </p:nvCxnSpPr>
        <p:spPr>
          <a:xfrm rot="10800000">
            <a:off x="2333000" y="5418793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12"/>
          <p:cNvCxnSpPr/>
          <p:nvPr/>
        </p:nvCxnSpPr>
        <p:spPr>
          <a:xfrm rot="10800000">
            <a:off x="2209981" y="5324352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12"/>
          <p:cNvCxnSpPr/>
          <p:nvPr/>
        </p:nvCxnSpPr>
        <p:spPr>
          <a:xfrm rot="10800000">
            <a:off x="2095624" y="5219727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12"/>
          <p:cNvCxnSpPr/>
          <p:nvPr/>
        </p:nvCxnSpPr>
        <p:spPr>
          <a:xfrm rot="10800000">
            <a:off x="1990864" y="5105336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12"/>
          <p:cNvCxnSpPr/>
          <p:nvPr/>
        </p:nvCxnSpPr>
        <p:spPr>
          <a:xfrm rot="10800000">
            <a:off x="1896273" y="4982276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12"/>
          <p:cNvCxnSpPr/>
          <p:nvPr/>
        </p:nvCxnSpPr>
        <p:spPr>
          <a:xfrm rot="10800000">
            <a:off x="1812948" y="4851419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2"/>
          <p:cNvCxnSpPr/>
          <p:nvPr/>
        </p:nvCxnSpPr>
        <p:spPr>
          <a:xfrm rot="10800000">
            <a:off x="1741307" y="4713700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12"/>
          <p:cNvCxnSpPr/>
          <p:nvPr/>
        </p:nvCxnSpPr>
        <p:spPr>
          <a:xfrm rot="10800000">
            <a:off x="1681985" y="4570415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12"/>
          <p:cNvCxnSpPr/>
          <p:nvPr/>
        </p:nvCxnSpPr>
        <p:spPr>
          <a:xfrm rot="10800000">
            <a:off x="1635527" y="4422612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12"/>
          <p:cNvCxnSpPr/>
          <p:nvPr/>
        </p:nvCxnSpPr>
        <p:spPr>
          <a:xfrm rot="10800000">
            <a:off x="1601784" y="4271080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12"/>
          <p:cNvCxnSpPr/>
          <p:nvPr/>
        </p:nvCxnSpPr>
        <p:spPr>
          <a:xfrm rot="10800000">
            <a:off x="1581712" y="4117246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12"/>
          <p:cNvCxnSpPr/>
          <p:nvPr/>
        </p:nvCxnSpPr>
        <p:spPr>
          <a:xfrm rot="10800000">
            <a:off x="1574666" y="3962263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12"/>
          <p:cNvCxnSpPr/>
          <p:nvPr/>
        </p:nvCxnSpPr>
        <p:spPr>
          <a:xfrm flipH="1" rot="10800000">
            <a:off x="1574800" y="3807300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12"/>
          <p:cNvCxnSpPr/>
          <p:nvPr/>
        </p:nvCxnSpPr>
        <p:spPr>
          <a:xfrm flipH="1" rot="10800000">
            <a:off x="1581566" y="3653537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12"/>
          <p:cNvCxnSpPr/>
          <p:nvPr/>
        </p:nvCxnSpPr>
        <p:spPr>
          <a:xfrm flipH="1" rot="10800000">
            <a:off x="1601812" y="3502154"/>
            <a:ext cx="33600" cy="1515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12"/>
          <p:cNvCxnSpPr/>
          <p:nvPr/>
        </p:nvCxnSpPr>
        <p:spPr>
          <a:xfrm flipH="1" rot="10800000">
            <a:off x="1635384" y="3354320"/>
            <a:ext cx="46500" cy="1479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12"/>
          <p:cNvCxnSpPr/>
          <p:nvPr/>
        </p:nvCxnSpPr>
        <p:spPr>
          <a:xfrm flipH="1" rot="10800000">
            <a:off x="1682027" y="3210888"/>
            <a:ext cx="59400" cy="1434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12"/>
          <p:cNvCxnSpPr/>
          <p:nvPr/>
        </p:nvCxnSpPr>
        <p:spPr>
          <a:xfrm flipH="1" rot="10800000">
            <a:off x="1741385" y="3073285"/>
            <a:ext cx="71700" cy="137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12"/>
          <p:cNvCxnSpPr/>
          <p:nvPr/>
        </p:nvCxnSpPr>
        <p:spPr>
          <a:xfrm flipH="1" rot="10800000">
            <a:off x="1813007" y="2942600"/>
            <a:ext cx="83400" cy="1308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12"/>
          <p:cNvCxnSpPr/>
          <p:nvPr/>
        </p:nvCxnSpPr>
        <p:spPr>
          <a:xfrm flipH="1" rot="10800000">
            <a:off x="1896348" y="2819581"/>
            <a:ext cx="94500" cy="1230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12"/>
          <p:cNvCxnSpPr/>
          <p:nvPr/>
        </p:nvCxnSpPr>
        <p:spPr>
          <a:xfrm flipH="1" rot="10800000">
            <a:off x="1990773" y="2705224"/>
            <a:ext cx="104700" cy="1143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12"/>
          <p:cNvCxnSpPr/>
          <p:nvPr/>
        </p:nvCxnSpPr>
        <p:spPr>
          <a:xfrm flipH="1" rot="10800000">
            <a:off x="2095564" y="2600464"/>
            <a:ext cx="114300" cy="104700"/>
          </a:xfrm>
          <a:prstGeom prst="straightConnector1">
            <a:avLst/>
          </a:prstGeom>
          <a:noFill/>
          <a:ln cap="flat" cmpd="sng" w="15250">
            <a:solidFill>
              <a:srgbClr val="CFD5D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4" name="Google Shape;744;p12"/>
          <p:cNvSpPr/>
          <p:nvPr/>
        </p:nvSpPr>
        <p:spPr>
          <a:xfrm>
            <a:off x="1284312" y="3336154"/>
            <a:ext cx="635100" cy="6351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2"/>
          <p:cNvSpPr/>
          <p:nvPr/>
        </p:nvSpPr>
        <p:spPr>
          <a:xfrm>
            <a:off x="3124200" y="1955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1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746" name="Google Shape;746;p12"/>
          <p:cNvSpPr txBox="1"/>
          <p:nvPr/>
        </p:nvSpPr>
        <p:spPr>
          <a:xfrm>
            <a:off x="2273300" y="2552700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Ситуация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747" name="Google Shape;747;p12"/>
          <p:cNvSpPr/>
          <p:nvPr/>
        </p:nvSpPr>
        <p:spPr>
          <a:xfrm>
            <a:off x="4267076" y="23717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2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748" name="Google Shape;748;p12"/>
          <p:cNvSpPr txBox="1"/>
          <p:nvPr/>
        </p:nvSpPr>
        <p:spPr>
          <a:xfrm>
            <a:off x="3416176" y="2041573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Эмоция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749" name="Google Shape;749;p12"/>
          <p:cNvSpPr/>
          <p:nvPr/>
        </p:nvSpPr>
        <p:spPr>
          <a:xfrm>
            <a:off x="4875188" y="3425054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3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750" name="Google Shape;750;p12"/>
          <p:cNvSpPr txBox="1"/>
          <p:nvPr/>
        </p:nvSpPr>
        <p:spPr>
          <a:xfrm>
            <a:off x="4635500" y="3044054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Импульс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751" name="Google Shape;751;p12"/>
          <p:cNvSpPr/>
          <p:nvPr/>
        </p:nvSpPr>
        <p:spPr>
          <a:xfrm>
            <a:off x="4663993" y="4622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4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752" name="Google Shape;752;p12"/>
          <p:cNvSpPr txBox="1"/>
          <p:nvPr/>
        </p:nvSpPr>
        <p:spPr>
          <a:xfrm>
            <a:off x="4635500" y="5232400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Пауза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753" name="Google Shape;753;p12"/>
          <p:cNvSpPr/>
          <p:nvPr/>
        </p:nvSpPr>
        <p:spPr>
          <a:xfrm>
            <a:off x="3732312" y="54045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5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754" name="Google Shape;754;p12"/>
          <p:cNvSpPr txBox="1"/>
          <p:nvPr/>
        </p:nvSpPr>
        <p:spPr>
          <a:xfrm>
            <a:off x="3465612" y="6001473"/>
            <a:ext cx="990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Риск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755" name="Google Shape;755;p12"/>
          <p:cNvSpPr/>
          <p:nvPr/>
        </p:nvSpPr>
        <p:spPr>
          <a:xfrm>
            <a:off x="2516088" y="54045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6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756" name="Google Shape;756;p12"/>
          <p:cNvSpPr txBox="1"/>
          <p:nvPr/>
        </p:nvSpPr>
        <p:spPr>
          <a:xfrm>
            <a:off x="1830288" y="6001473"/>
            <a:ext cx="1828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Осознание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757" name="Google Shape;757;p12"/>
          <p:cNvSpPr/>
          <p:nvPr/>
        </p:nvSpPr>
        <p:spPr>
          <a:xfrm>
            <a:off x="1584407" y="4622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7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758" name="Google Shape;758;p12"/>
          <p:cNvSpPr txBox="1"/>
          <p:nvPr/>
        </p:nvSpPr>
        <p:spPr>
          <a:xfrm>
            <a:off x="431800" y="5232400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Инструмент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759" name="Google Shape;759;p12"/>
          <p:cNvSpPr/>
          <p:nvPr/>
        </p:nvSpPr>
        <p:spPr>
          <a:xfrm>
            <a:off x="1373212" y="3425054"/>
            <a:ext cx="457200" cy="457200"/>
          </a:xfrm>
          <a:prstGeom prst="ellipse">
            <a:avLst/>
          </a:prstGeom>
          <a:solidFill>
            <a:srgbClr val="245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CFCFB"/>
                </a:solidFill>
              </a:rPr>
              <a:t>8</a:t>
            </a:r>
            <a:endParaRPr sz="1800">
              <a:solidFill>
                <a:srgbClr val="FCFCFB"/>
              </a:solidFill>
            </a:endParaRPr>
          </a:p>
        </p:txBody>
      </p:sp>
      <p:sp>
        <p:nvSpPr>
          <p:cNvPr id="760" name="Google Shape;760;p12"/>
          <p:cNvSpPr txBox="1"/>
          <p:nvPr/>
        </p:nvSpPr>
        <p:spPr>
          <a:xfrm>
            <a:off x="431800" y="3044054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Действие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761" name="Google Shape;761;p12"/>
          <p:cNvSpPr/>
          <p:nvPr/>
        </p:nvSpPr>
        <p:spPr>
          <a:xfrm>
            <a:off x="2159124" y="2549573"/>
            <a:ext cx="101700" cy="101700"/>
          </a:xfrm>
          <a:prstGeom prst="ellipse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762" name="Google Shape;762;p12"/>
          <p:cNvSpPr txBox="1"/>
          <p:nvPr/>
        </p:nvSpPr>
        <p:spPr>
          <a:xfrm>
            <a:off x="7150100" y="2501900"/>
            <a:ext cx="4381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Действие</a:t>
            </a:r>
            <a:endParaRPr sz="38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3" name="Google Shape;763;p12"/>
          <p:cNvSpPr txBox="1"/>
          <p:nvPr/>
        </p:nvSpPr>
        <p:spPr>
          <a:xfrm>
            <a:off x="7150100" y="3479800"/>
            <a:ext cx="425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43B37"/>
                </a:solidFill>
              </a:rPr>
              <a:t>Человек действует с учётом того, что выяснил: уточняет условия, договаривается о сроках или просит помощи.</a:t>
            </a:r>
            <a:endParaRPr sz="2200">
              <a:solidFill>
                <a:srgbClr val="343B3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3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770" name="Google Shape;770;p13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Авторский подход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771" name="Google Shape;771;p13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3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11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773" name="Google Shape;773;p13"/>
          <p:cNvSpPr/>
          <p:nvPr/>
        </p:nvSpPr>
        <p:spPr>
          <a:xfrm>
            <a:off x="523875" y="977900"/>
            <a:ext cx="11137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От ситуации — к осмысленному действию</a:t>
            </a:r>
            <a:endParaRPr sz="34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74" name="Google Shape;774;p13"/>
          <p:cNvCxnSpPr/>
          <p:nvPr/>
        </p:nvCxnSpPr>
        <p:spPr>
          <a:xfrm>
            <a:off x="3352800" y="21844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3"/>
          <p:cNvCxnSpPr/>
          <p:nvPr/>
        </p:nvCxnSpPr>
        <p:spPr>
          <a:xfrm>
            <a:off x="3507763" y="2191166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3"/>
          <p:cNvCxnSpPr/>
          <p:nvPr/>
        </p:nvCxnSpPr>
        <p:spPr>
          <a:xfrm>
            <a:off x="3661546" y="2211412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3"/>
          <p:cNvCxnSpPr/>
          <p:nvPr/>
        </p:nvCxnSpPr>
        <p:spPr>
          <a:xfrm>
            <a:off x="3812980" y="2244984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13"/>
          <p:cNvCxnSpPr/>
          <p:nvPr/>
        </p:nvCxnSpPr>
        <p:spPr>
          <a:xfrm>
            <a:off x="3960912" y="2291627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13"/>
          <p:cNvCxnSpPr/>
          <p:nvPr/>
        </p:nvCxnSpPr>
        <p:spPr>
          <a:xfrm>
            <a:off x="4104215" y="235098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13"/>
          <p:cNvCxnSpPr/>
          <p:nvPr/>
        </p:nvCxnSpPr>
        <p:spPr>
          <a:xfrm>
            <a:off x="4241800" y="2422607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13"/>
          <p:cNvCxnSpPr/>
          <p:nvPr/>
        </p:nvCxnSpPr>
        <p:spPr>
          <a:xfrm>
            <a:off x="4372619" y="2505948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13"/>
          <p:cNvCxnSpPr/>
          <p:nvPr/>
        </p:nvCxnSpPr>
        <p:spPr>
          <a:xfrm>
            <a:off x="4495676" y="2600373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13"/>
          <p:cNvCxnSpPr/>
          <p:nvPr/>
        </p:nvCxnSpPr>
        <p:spPr>
          <a:xfrm>
            <a:off x="4610036" y="2705164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13"/>
          <p:cNvCxnSpPr/>
          <p:nvPr/>
        </p:nvCxnSpPr>
        <p:spPr>
          <a:xfrm>
            <a:off x="4714827" y="2819524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13"/>
          <p:cNvCxnSpPr/>
          <p:nvPr/>
        </p:nvCxnSpPr>
        <p:spPr>
          <a:xfrm>
            <a:off x="4809252" y="2942581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13"/>
          <p:cNvCxnSpPr/>
          <p:nvPr/>
        </p:nvCxnSpPr>
        <p:spPr>
          <a:xfrm>
            <a:off x="4892593" y="3073400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13"/>
          <p:cNvCxnSpPr/>
          <p:nvPr/>
        </p:nvCxnSpPr>
        <p:spPr>
          <a:xfrm>
            <a:off x="4964215" y="3210985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13"/>
          <p:cNvCxnSpPr/>
          <p:nvPr/>
        </p:nvCxnSpPr>
        <p:spPr>
          <a:xfrm>
            <a:off x="5023573" y="3354288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13"/>
          <p:cNvCxnSpPr/>
          <p:nvPr/>
        </p:nvCxnSpPr>
        <p:spPr>
          <a:xfrm>
            <a:off x="5070216" y="3502220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13"/>
          <p:cNvCxnSpPr/>
          <p:nvPr/>
        </p:nvCxnSpPr>
        <p:spPr>
          <a:xfrm>
            <a:off x="5103788" y="3653654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13"/>
          <p:cNvCxnSpPr/>
          <p:nvPr/>
        </p:nvCxnSpPr>
        <p:spPr>
          <a:xfrm>
            <a:off x="5124034" y="3807437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13"/>
          <p:cNvCxnSpPr/>
          <p:nvPr/>
        </p:nvCxnSpPr>
        <p:spPr>
          <a:xfrm flipH="1">
            <a:off x="5123900" y="3962400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13"/>
          <p:cNvCxnSpPr/>
          <p:nvPr/>
        </p:nvCxnSpPr>
        <p:spPr>
          <a:xfrm flipH="1">
            <a:off x="5103934" y="4117363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13"/>
          <p:cNvCxnSpPr/>
          <p:nvPr/>
        </p:nvCxnSpPr>
        <p:spPr>
          <a:xfrm flipH="1">
            <a:off x="5070188" y="4271146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13"/>
          <p:cNvCxnSpPr/>
          <p:nvPr/>
        </p:nvCxnSpPr>
        <p:spPr>
          <a:xfrm flipH="1">
            <a:off x="5023716" y="4422580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13"/>
          <p:cNvCxnSpPr/>
          <p:nvPr/>
        </p:nvCxnSpPr>
        <p:spPr>
          <a:xfrm flipH="1">
            <a:off x="4964173" y="4570512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13"/>
          <p:cNvCxnSpPr/>
          <p:nvPr/>
        </p:nvCxnSpPr>
        <p:spPr>
          <a:xfrm flipH="1">
            <a:off x="4892515" y="4713815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13"/>
          <p:cNvCxnSpPr/>
          <p:nvPr/>
        </p:nvCxnSpPr>
        <p:spPr>
          <a:xfrm flipH="1">
            <a:off x="4809193" y="4851400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13"/>
          <p:cNvCxnSpPr/>
          <p:nvPr/>
        </p:nvCxnSpPr>
        <p:spPr>
          <a:xfrm flipH="1">
            <a:off x="4714752" y="4982219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13"/>
          <p:cNvCxnSpPr/>
          <p:nvPr/>
        </p:nvCxnSpPr>
        <p:spPr>
          <a:xfrm flipH="1">
            <a:off x="4610127" y="5105276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13"/>
          <p:cNvCxnSpPr/>
          <p:nvPr/>
        </p:nvCxnSpPr>
        <p:spPr>
          <a:xfrm flipH="1">
            <a:off x="4495736" y="5219636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13"/>
          <p:cNvCxnSpPr/>
          <p:nvPr/>
        </p:nvCxnSpPr>
        <p:spPr>
          <a:xfrm flipH="1">
            <a:off x="4372676" y="5324427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13"/>
          <p:cNvCxnSpPr/>
          <p:nvPr/>
        </p:nvCxnSpPr>
        <p:spPr>
          <a:xfrm flipH="1">
            <a:off x="4241819" y="5418852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13"/>
          <p:cNvCxnSpPr/>
          <p:nvPr/>
        </p:nvCxnSpPr>
        <p:spPr>
          <a:xfrm flipH="1">
            <a:off x="4104100" y="5502193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13"/>
          <p:cNvCxnSpPr/>
          <p:nvPr/>
        </p:nvCxnSpPr>
        <p:spPr>
          <a:xfrm flipH="1">
            <a:off x="3960815" y="5573815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13"/>
          <p:cNvCxnSpPr/>
          <p:nvPr/>
        </p:nvCxnSpPr>
        <p:spPr>
          <a:xfrm flipH="1">
            <a:off x="3813012" y="5633173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3"/>
          <p:cNvCxnSpPr/>
          <p:nvPr/>
        </p:nvCxnSpPr>
        <p:spPr>
          <a:xfrm flipH="1">
            <a:off x="3661480" y="5679816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3"/>
          <p:cNvCxnSpPr/>
          <p:nvPr/>
        </p:nvCxnSpPr>
        <p:spPr>
          <a:xfrm flipH="1">
            <a:off x="3507646" y="5713388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13"/>
          <p:cNvCxnSpPr/>
          <p:nvPr/>
        </p:nvCxnSpPr>
        <p:spPr>
          <a:xfrm flipH="1">
            <a:off x="3352663" y="5733634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13"/>
          <p:cNvCxnSpPr/>
          <p:nvPr/>
        </p:nvCxnSpPr>
        <p:spPr>
          <a:xfrm rot="10800000">
            <a:off x="3197700" y="5733500"/>
            <a:ext cx="155100" cy="6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13"/>
          <p:cNvCxnSpPr/>
          <p:nvPr/>
        </p:nvCxnSpPr>
        <p:spPr>
          <a:xfrm rot="10800000">
            <a:off x="3043937" y="5713534"/>
            <a:ext cx="153900" cy="20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13"/>
          <p:cNvCxnSpPr/>
          <p:nvPr/>
        </p:nvCxnSpPr>
        <p:spPr>
          <a:xfrm rot="10800000">
            <a:off x="2892554" y="5679788"/>
            <a:ext cx="151500" cy="336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13"/>
          <p:cNvCxnSpPr/>
          <p:nvPr/>
        </p:nvCxnSpPr>
        <p:spPr>
          <a:xfrm rot="10800000">
            <a:off x="2744720" y="5633316"/>
            <a:ext cx="147900" cy="46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13"/>
          <p:cNvCxnSpPr/>
          <p:nvPr/>
        </p:nvCxnSpPr>
        <p:spPr>
          <a:xfrm rot="10800000">
            <a:off x="2601288" y="5573773"/>
            <a:ext cx="143400" cy="59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13"/>
          <p:cNvCxnSpPr/>
          <p:nvPr/>
        </p:nvCxnSpPr>
        <p:spPr>
          <a:xfrm rot="10800000">
            <a:off x="2463685" y="5502115"/>
            <a:ext cx="137700" cy="71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13"/>
          <p:cNvCxnSpPr/>
          <p:nvPr/>
        </p:nvCxnSpPr>
        <p:spPr>
          <a:xfrm rot="10800000">
            <a:off x="2333000" y="5418793"/>
            <a:ext cx="130800" cy="8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13"/>
          <p:cNvCxnSpPr/>
          <p:nvPr/>
        </p:nvCxnSpPr>
        <p:spPr>
          <a:xfrm rot="10800000">
            <a:off x="2209981" y="5324352"/>
            <a:ext cx="123000" cy="94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13"/>
          <p:cNvCxnSpPr/>
          <p:nvPr/>
        </p:nvCxnSpPr>
        <p:spPr>
          <a:xfrm rot="10800000">
            <a:off x="2095624" y="5219727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13"/>
          <p:cNvCxnSpPr/>
          <p:nvPr/>
        </p:nvCxnSpPr>
        <p:spPr>
          <a:xfrm rot="10800000">
            <a:off x="1990864" y="5105336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13"/>
          <p:cNvCxnSpPr/>
          <p:nvPr/>
        </p:nvCxnSpPr>
        <p:spPr>
          <a:xfrm rot="10800000">
            <a:off x="1896273" y="4982276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13"/>
          <p:cNvCxnSpPr/>
          <p:nvPr/>
        </p:nvCxnSpPr>
        <p:spPr>
          <a:xfrm rot="10800000">
            <a:off x="1812948" y="4851419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13"/>
          <p:cNvCxnSpPr/>
          <p:nvPr/>
        </p:nvCxnSpPr>
        <p:spPr>
          <a:xfrm rot="10800000">
            <a:off x="1741307" y="4713700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13"/>
          <p:cNvCxnSpPr/>
          <p:nvPr/>
        </p:nvCxnSpPr>
        <p:spPr>
          <a:xfrm rot="10800000">
            <a:off x="1681985" y="4570415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13"/>
          <p:cNvCxnSpPr/>
          <p:nvPr/>
        </p:nvCxnSpPr>
        <p:spPr>
          <a:xfrm rot="10800000">
            <a:off x="1635527" y="4422612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13"/>
          <p:cNvCxnSpPr/>
          <p:nvPr/>
        </p:nvCxnSpPr>
        <p:spPr>
          <a:xfrm rot="10800000">
            <a:off x="1601784" y="4271080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6" name="Google Shape;826;p13"/>
          <p:cNvCxnSpPr/>
          <p:nvPr/>
        </p:nvCxnSpPr>
        <p:spPr>
          <a:xfrm rot="10800000">
            <a:off x="1581712" y="4117246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13"/>
          <p:cNvCxnSpPr/>
          <p:nvPr/>
        </p:nvCxnSpPr>
        <p:spPr>
          <a:xfrm rot="10800000">
            <a:off x="1574666" y="3962263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13"/>
          <p:cNvCxnSpPr/>
          <p:nvPr/>
        </p:nvCxnSpPr>
        <p:spPr>
          <a:xfrm flipH="1" rot="10800000">
            <a:off x="1574800" y="3807300"/>
            <a:ext cx="6900" cy="1551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13"/>
          <p:cNvCxnSpPr/>
          <p:nvPr/>
        </p:nvCxnSpPr>
        <p:spPr>
          <a:xfrm flipH="1" rot="10800000">
            <a:off x="1581566" y="3653537"/>
            <a:ext cx="20100" cy="153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13"/>
          <p:cNvCxnSpPr/>
          <p:nvPr/>
        </p:nvCxnSpPr>
        <p:spPr>
          <a:xfrm flipH="1" rot="10800000">
            <a:off x="1601812" y="3502154"/>
            <a:ext cx="33600" cy="1515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13"/>
          <p:cNvCxnSpPr/>
          <p:nvPr/>
        </p:nvCxnSpPr>
        <p:spPr>
          <a:xfrm flipH="1" rot="10800000">
            <a:off x="1635384" y="3354320"/>
            <a:ext cx="46500" cy="1479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13"/>
          <p:cNvCxnSpPr/>
          <p:nvPr/>
        </p:nvCxnSpPr>
        <p:spPr>
          <a:xfrm flipH="1" rot="10800000">
            <a:off x="1682027" y="3210888"/>
            <a:ext cx="59400" cy="1434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13"/>
          <p:cNvCxnSpPr/>
          <p:nvPr/>
        </p:nvCxnSpPr>
        <p:spPr>
          <a:xfrm flipH="1" rot="10800000">
            <a:off x="1741385" y="3073285"/>
            <a:ext cx="71700" cy="137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13"/>
          <p:cNvCxnSpPr/>
          <p:nvPr/>
        </p:nvCxnSpPr>
        <p:spPr>
          <a:xfrm flipH="1" rot="10800000">
            <a:off x="1813007" y="2942600"/>
            <a:ext cx="83400" cy="1308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13"/>
          <p:cNvCxnSpPr/>
          <p:nvPr/>
        </p:nvCxnSpPr>
        <p:spPr>
          <a:xfrm flipH="1" rot="10800000">
            <a:off x="1896348" y="2819581"/>
            <a:ext cx="94500" cy="1230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13"/>
          <p:cNvCxnSpPr/>
          <p:nvPr/>
        </p:nvCxnSpPr>
        <p:spPr>
          <a:xfrm flipH="1" rot="10800000">
            <a:off x="1990773" y="2705224"/>
            <a:ext cx="104700" cy="1143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13"/>
          <p:cNvCxnSpPr/>
          <p:nvPr/>
        </p:nvCxnSpPr>
        <p:spPr>
          <a:xfrm flipH="1" rot="10800000">
            <a:off x="2095564" y="2600464"/>
            <a:ext cx="114300" cy="104700"/>
          </a:xfrm>
          <a:prstGeom prst="straightConnector1">
            <a:avLst/>
          </a:prstGeom>
          <a:noFill/>
          <a:ln cap="flat" cmpd="sng" w="27950">
            <a:solidFill>
              <a:srgbClr val="245D6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13"/>
          <p:cNvSpPr/>
          <p:nvPr/>
        </p:nvSpPr>
        <p:spPr>
          <a:xfrm>
            <a:off x="1892424" y="2282873"/>
            <a:ext cx="635100" cy="6351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3"/>
          <p:cNvSpPr/>
          <p:nvPr/>
        </p:nvSpPr>
        <p:spPr>
          <a:xfrm>
            <a:off x="3124200" y="1955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1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840" name="Google Shape;840;p13"/>
          <p:cNvSpPr txBox="1"/>
          <p:nvPr/>
        </p:nvSpPr>
        <p:spPr>
          <a:xfrm>
            <a:off x="2273300" y="2552700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Ситуация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841" name="Google Shape;841;p13"/>
          <p:cNvSpPr/>
          <p:nvPr/>
        </p:nvSpPr>
        <p:spPr>
          <a:xfrm>
            <a:off x="4267076" y="23717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2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842" name="Google Shape;842;p13"/>
          <p:cNvSpPr txBox="1"/>
          <p:nvPr/>
        </p:nvSpPr>
        <p:spPr>
          <a:xfrm>
            <a:off x="3416176" y="2041573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Эмоция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843" name="Google Shape;843;p13"/>
          <p:cNvSpPr/>
          <p:nvPr/>
        </p:nvSpPr>
        <p:spPr>
          <a:xfrm>
            <a:off x="4875188" y="3425054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3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844" name="Google Shape;844;p13"/>
          <p:cNvSpPr txBox="1"/>
          <p:nvPr/>
        </p:nvSpPr>
        <p:spPr>
          <a:xfrm>
            <a:off x="4635500" y="3044054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Импульс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845" name="Google Shape;845;p13"/>
          <p:cNvSpPr/>
          <p:nvPr/>
        </p:nvSpPr>
        <p:spPr>
          <a:xfrm>
            <a:off x="4663993" y="4622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4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846" name="Google Shape;846;p13"/>
          <p:cNvSpPr txBox="1"/>
          <p:nvPr/>
        </p:nvSpPr>
        <p:spPr>
          <a:xfrm>
            <a:off x="4635500" y="5232400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Пауза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847" name="Google Shape;847;p13"/>
          <p:cNvSpPr/>
          <p:nvPr/>
        </p:nvSpPr>
        <p:spPr>
          <a:xfrm>
            <a:off x="3732312" y="54045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5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848" name="Google Shape;848;p13"/>
          <p:cNvSpPr txBox="1"/>
          <p:nvPr/>
        </p:nvSpPr>
        <p:spPr>
          <a:xfrm>
            <a:off x="3465612" y="6001473"/>
            <a:ext cx="990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Риск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849" name="Google Shape;849;p13"/>
          <p:cNvSpPr/>
          <p:nvPr/>
        </p:nvSpPr>
        <p:spPr>
          <a:xfrm>
            <a:off x="2516088" y="5404573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6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850" name="Google Shape;850;p13"/>
          <p:cNvSpPr txBox="1"/>
          <p:nvPr/>
        </p:nvSpPr>
        <p:spPr>
          <a:xfrm>
            <a:off x="1830288" y="6001473"/>
            <a:ext cx="1828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Осознание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851" name="Google Shape;851;p13"/>
          <p:cNvSpPr/>
          <p:nvPr/>
        </p:nvSpPr>
        <p:spPr>
          <a:xfrm>
            <a:off x="1584407" y="4622800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7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852" name="Google Shape;852;p13"/>
          <p:cNvSpPr txBox="1"/>
          <p:nvPr/>
        </p:nvSpPr>
        <p:spPr>
          <a:xfrm>
            <a:off x="431800" y="5232400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Инструмент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853" name="Google Shape;853;p13"/>
          <p:cNvSpPr/>
          <p:nvPr/>
        </p:nvSpPr>
        <p:spPr>
          <a:xfrm>
            <a:off x="1373212" y="3425054"/>
            <a:ext cx="457200" cy="457200"/>
          </a:xfrm>
          <a:prstGeom prst="ellipse">
            <a:avLst/>
          </a:prstGeom>
          <a:solidFill>
            <a:srgbClr val="E4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8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854" name="Google Shape;854;p13"/>
          <p:cNvSpPr txBox="1"/>
          <p:nvPr/>
        </p:nvSpPr>
        <p:spPr>
          <a:xfrm>
            <a:off x="431800" y="3044054"/>
            <a:ext cx="1905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6A"/>
                </a:solidFill>
              </a:rPr>
              <a:t>Действие</a:t>
            </a:r>
            <a:endParaRPr sz="1800">
              <a:solidFill>
                <a:srgbClr val="66706A"/>
              </a:solidFill>
            </a:endParaRPr>
          </a:p>
        </p:txBody>
      </p:sp>
      <p:sp>
        <p:nvSpPr>
          <p:cNvPr id="855" name="Google Shape;855;p13"/>
          <p:cNvSpPr/>
          <p:nvPr/>
        </p:nvSpPr>
        <p:spPr>
          <a:xfrm>
            <a:off x="1981324" y="2371773"/>
            <a:ext cx="457200" cy="457200"/>
          </a:xfrm>
          <a:prstGeom prst="ellipse">
            <a:avLst/>
          </a:prstGeom>
          <a:solidFill>
            <a:srgbClr val="245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CFCFB"/>
                </a:solidFill>
              </a:rPr>
              <a:t>9</a:t>
            </a:r>
            <a:endParaRPr sz="1800">
              <a:solidFill>
                <a:srgbClr val="FCFCFB"/>
              </a:solidFill>
            </a:endParaRPr>
          </a:p>
        </p:txBody>
      </p:sp>
      <p:sp>
        <p:nvSpPr>
          <p:cNvPr id="856" name="Google Shape;856;p13"/>
          <p:cNvSpPr txBox="1"/>
          <p:nvPr/>
        </p:nvSpPr>
        <p:spPr>
          <a:xfrm>
            <a:off x="1130424" y="2041573"/>
            <a:ext cx="2159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5D65"/>
                </a:solidFill>
              </a:rPr>
              <a:t>Результат</a:t>
            </a:r>
            <a:endParaRPr sz="1800">
              <a:solidFill>
                <a:srgbClr val="245D65"/>
              </a:solidFill>
            </a:endParaRPr>
          </a:p>
        </p:txBody>
      </p:sp>
      <p:sp>
        <p:nvSpPr>
          <p:cNvPr id="857" name="Google Shape;857;p13"/>
          <p:cNvSpPr txBox="1"/>
          <p:nvPr/>
        </p:nvSpPr>
        <p:spPr>
          <a:xfrm>
            <a:off x="7150100" y="2501900"/>
            <a:ext cx="4381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Результат</a:t>
            </a:r>
            <a:endParaRPr sz="38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8" name="Google Shape;858;p13"/>
          <p:cNvSpPr txBox="1"/>
          <p:nvPr/>
        </p:nvSpPr>
        <p:spPr>
          <a:xfrm>
            <a:off x="7150100" y="3479800"/>
            <a:ext cx="425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43B37"/>
                </a:solidFill>
              </a:rPr>
              <a:t>Отделяем уже случившееся от ожиданий. Договориться о переносе платежа — ещё не значит заплатить.</a:t>
            </a:r>
            <a:endParaRPr sz="2200">
              <a:solidFill>
                <a:srgbClr val="343B3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4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865" name="Google Shape;865;p14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Основа подхода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866" name="Google Shape;866;p14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4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12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868" name="Google Shape;868;p14"/>
          <p:cNvSpPr/>
          <p:nvPr/>
        </p:nvSpPr>
        <p:spPr>
          <a:xfrm>
            <a:off x="523875" y="1003300"/>
            <a:ext cx="111378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Психология и осмысление опыта</a:t>
            </a:r>
            <a:endParaRPr sz="35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9" name="Google Shape;869;p14"/>
          <p:cNvSpPr/>
          <p:nvPr/>
        </p:nvSpPr>
        <p:spPr>
          <a:xfrm>
            <a:off x="523875" y="1828800"/>
            <a:ext cx="111378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43B37"/>
                </a:solidFill>
              </a:rPr>
              <a:t>Три направления исследований, на которые опирается подход.</a:t>
            </a:r>
            <a:endParaRPr sz="2000">
              <a:solidFill>
                <a:srgbClr val="343B37"/>
              </a:solidFill>
            </a:endParaRPr>
          </a:p>
        </p:txBody>
      </p:sp>
      <p:sp>
        <p:nvSpPr>
          <p:cNvPr id="870" name="Google Shape;870;p14"/>
          <p:cNvSpPr/>
          <p:nvPr/>
        </p:nvSpPr>
        <p:spPr>
          <a:xfrm>
            <a:off x="523875" y="2743200"/>
            <a:ext cx="521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Осмысление опыта</a:t>
            </a:r>
            <a:endParaRPr sz="24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1" name="Google Shape;871;p14"/>
          <p:cNvSpPr/>
          <p:nvPr/>
        </p:nvSpPr>
        <p:spPr>
          <a:xfrm>
            <a:off x="523875" y="3327400"/>
            <a:ext cx="52197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Размышление о пережитом</a:t>
            </a:r>
            <a:endParaRPr sz="18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помогает сделать выводы.</a:t>
            </a:r>
            <a:endParaRPr sz="1800">
              <a:solidFill>
                <a:srgbClr val="343B37"/>
              </a:solidFill>
            </a:endParaRPr>
          </a:p>
        </p:txBody>
      </p:sp>
      <p:sp>
        <p:nvSpPr>
          <p:cNvPr id="872" name="Google Shape;872;p14"/>
          <p:cNvSpPr/>
          <p:nvPr/>
        </p:nvSpPr>
        <p:spPr>
          <a:xfrm>
            <a:off x="6315075" y="2743200"/>
            <a:ext cx="521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Убеждения о деньгах</a:t>
            </a:r>
            <a:endParaRPr sz="24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3" name="Google Shape;873;p14"/>
          <p:cNvSpPr/>
          <p:nvPr/>
        </p:nvSpPr>
        <p:spPr>
          <a:xfrm>
            <a:off x="6315075" y="3327400"/>
            <a:ext cx="52197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Наши взгляды на деньги связаны</a:t>
            </a:r>
            <a:endParaRPr sz="18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с тем, как мы ими распоряжаемся.</a:t>
            </a:r>
            <a:endParaRPr sz="1800">
              <a:solidFill>
                <a:srgbClr val="343B37"/>
              </a:solidFill>
            </a:endParaRPr>
          </a:p>
        </p:txBody>
      </p:sp>
      <p:sp>
        <p:nvSpPr>
          <p:cNvPr id="874" name="Google Shape;874;p14"/>
          <p:cNvSpPr/>
          <p:nvPr/>
        </p:nvSpPr>
        <p:spPr>
          <a:xfrm>
            <a:off x="523875" y="4406900"/>
            <a:ext cx="521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Быстрые суждения</a:t>
            </a:r>
            <a:endParaRPr sz="24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5" name="Google Shape;875;p14"/>
          <p:cNvSpPr/>
          <p:nvPr/>
        </p:nvSpPr>
        <p:spPr>
          <a:xfrm>
            <a:off x="523875" y="4991100"/>
            <a:ext cx="52197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Упрощая сложную ситуацию,</a:t>
            </a:r>
            <a:endParaRPr sz="18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мы можем ошибиться в оценке.</a:t>
            </a:r>
            <a:endParaRPr sz="1800">
              <a:solidFill>
                <a:srgbClr val="343B37"/>
              </a:solidFill>
            </a:endParaRPr>
          </a:p>
        </p:txBody>
      </p:sp>
      <p:sp>
        <p:nvSpPr>
          <p:cNvPr id="876" name="Google Shape;876;p14"/>
          <p:cNvSpPr/>
          <p:nvPr/>
        </p:nvSpPr>
        <p:spPr>
          <a:xfrm>
            <a:off x="6315075" y="4406900"/>
            <a:ext cx="5219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Подход «Прожито»</a:t>
            </a:r>
            <a:endParaRPr sz="24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7" name="Google Shape;877;p14"/>
          <p:cNvSpPr/>
          <p:nvPr/>
        </p:nvSpPr>
        <p:spPr>
          <a:xfrm>
            <a:off x="6315075" y="4991100"/>
            <a:ext cx="52197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Связываем ситуацию, реакцию,</a:t>
            </a:r>
            <a:endParaRPr sz="18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3B37"/>
                </a:solidFill>
              </a:rPr>
              <a:t>действие и результат в одну цепочку.</a:t>
            </a:r>
            <a:endParaRPr sz="1800">
              <a:solidFill>
                <a:srgbClr val="343B37"/>
              </a:solidFill>
            </a:endParaRPr>
          </a:p>
        </p:txBody>
      </p:sp>
      <p:sp>
        <p:nvSpPr>
          <p:cNvPr id="878" name="Google Shape;878;p14"/>
          <p:cNvSpPr/>
          <p:nvPr/>
        </p:nvSpPr>
        <p:spPr>
          <a:xfrm>
            <a:off x="523875" y="4038600"/>
            <a:ext cx="5079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u="sng">
                <a:solidFill>
                  <a:schemeClr val="hlink"/>
                </a:solidFill>
                <a:hlinkClick r:id="rId3"/>
              </a:rPr>
              <a:t>Колб и соавторы ↗</a:t>
            </a:r>
            <a:endParaRPr sz="1350" u="sng">
              <a:solidFill>
                <a:srgbClr val="245D65"/>
              </a:solidFill>
            </a:endParaRPr>
          </a:p>
        </p:txBody>
      </p:sp>
      <p:sp>
        <p:nvSpPr>
          <p:cNvPr id="879" name="Google Shape;879;p14"/>
          <p:cNvSpPr/>
          <p:nvPr/>
        </p:nvSpPr>
        <p:spPr>
          <a:xfrm>
            <a:off x="6315075" y="4038600"/>
            <a:ext cx="5079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u="sng">
                <a:solidFill>
                  <a:schemeClr val="hlink"/>
                </a:solidFill>
                <a:hlinkClick r:id="rId4"/>
              </a:rPr>
              <a:t>Клонц и соавторы, 2011 ↗</a:t>
            </a:r>
            <a:endParaRPr sz="1350" u="sng">
              <a:solidFill>
                <a:srgbClr val="245D65"/>
              </a:solidFill>
            </a:endParaRPr>
          </a:p>
        </p:txBody>
      </p:sp>
      <p:sp>
        <p:nvSpPr>
          <p:cNvPr id="880" name="Google Shape;880;p14"/>
          <p:cNvSpPr/>
          <p:nvPr/>
        </p:nvSpPr>
        <p:spPr>
          <a:xfrm>
            <a:off x="523875" y="5727700"/>
            <a:ext cx="5079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u="sng">
                <a:solidFill>
                  <a:schemeClr val="hlink"/>
                </a:solidFill>
                <a:hlinkClick r:id="rId5"/>
              </a:rPr>
              <a:t>Тверски и Канеман, 1974 ↗</a:t>
            </a:r>
            <a:endParaRPr sz="1350" u="sng">
              <a:solidFill>
                <a:srgbClr val="245D65"/>
              </a:solidFill>
            </a:endParaRPr>
          </a:p>
        </p:txBody>
      </p:sp>
      <p:sp>
        <p:nvSpPr>
          <p:cNvPr id="881" name="Google Shape;881;p14"/>
          <p:cNvSpPr/>
          <p:nvPr/>
        </p:nvSpPr>
        <p:spPr>
          <a:xfrm>
            <a:off x="6315075" y="5727700"/>
            <a:ext cx="5079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u="sng">
                <a:solidFill>
                  <a:schemeClr val="hlink"/>
                </a:solidFill>
                <a:hlinkClick r:id="rId6"/>
              </a:rPr>
              <a:t>Методология проекта ↗</a:t>
            </a:r>
            <a:endParaRPr sz="1350" u="sng">
              <a:solidFill>
                <a:srgbClr val="245D6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5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888" name="Google Shape;888;p15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Финансовая грамотность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889" name="Google Shape;889;p15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5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13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891" name="Google Shape;891;p15"/>
          <p:cNvSpPr/>
          <p:nvPr/>
        </p:nvSpPr>
        <p:spPr>
          <a:xfrm>
            <a:off x="523875" y="977900"/>
            <a:ext cx="111378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Финансовая грамотность</a:t>
            </a:r>
            <a:endParaRPr sz="35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в конкретных решениях</a:t>
            </a:r>
            <a:endParaRPr sz="35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2" name="Google Shape;892;p15"/>
          <p:cNvSpPr/>
          <p:nvPr/>
        </p:nvSpPr>
        <p:spPr>
          <a:xfrm>
            <a:off x="523875" y="2451100"/>
            <a:ext cx="111378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43B37"/>
                </a:solidFill>
              </a:rPr>
              <a:t>Разбираем отдельные компетенции из российской рамки для взрослых.</a:t>
            </a:r>
            <a:endParaRPr sz="1900">
              <a:solidFill>
                <a:srgbClr val="343B37"/>
              </a:solidFill>
            </a:endParaRPr>
          </a:p>
        </p:txBody>
      </p:sp>
      <p:sp>
        <p:nvSpPr>
          <p:cNvPr id="893" name="Google Shape;893;p15"/>
          <p:cNvSpPr/>
          <p:nvPr/>
        </p:nvSpPr>
        <p:spPr>
          <a:xfrm>
            <a:off x="523875" y="3076575"/>
            <a:ext cx="54675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Деньги и операции</a:t>
            </a:r>
            <a:endParaRPr sz="225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4" name="Google Shape;894;p15"/>
          <p:cNvSpPr/>
          <p:nvPr/>
        </p:nvSpPr>
        <p:spPr>
          <a:xfrm>
            <a:off x="523875" y="3597275"/>
            <a:ext cx="54675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43B37"/>
                </a:solidFill>
              </a:rPr>
              <a:t>Учитывать сроки платежей</a:t>
            </a:r>
            <a:endParaRPr sz="19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43B37"/>
                </a:solidFill>
              </a:rPr>
              <a:t>и полную стоимость покупки.</a:t>
            </a:r>
            <a:endParaRPr sz="1900">
              <a:solidFill>
                <a:srgbClr val="343B37"/>
              </a:solidFill>
            </a:endParaRPr>
          </a:p>
        </p:txBody>
      </p:sp>
      <p:sp>
        <p:nvSpPr>
          <p:cNvPr id="895" name="Google Shape;895;p15"/>
          <p:cNvSpPr/>
          <p:nvPr/>
        </p:nvSpPr>
        <p:spPr>
          <a:xfrm>
            <a:off x="6340475" y="3076575"/>
            <a:ext cx="53277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Планирование</a:t>
            </a:r>
            <a:endParaRPr sz="225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6" name="Google Shape;896;p15"/>
          <p:cNvSpPr/>
          <p:nvPr/>
        </p:nvSpPr>
        <p:spPr>
          <a:xfrm>
            <a:off x="6340475" y="3597275"/>
            <a:ext cx="53277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43B37"/>
                </a:solidFill>
              </a:rPr>
              <a:t>Сопоставлять доходы и расходы,</a:t>
            </a:r>
            <a:endParaRPr sz="19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43B37"/>
                </a:solidFill>
              </a:rPr>
              <a:t>пересматривать бюджет.</a:t>
            </a:r>
            <a:endParaRPr sz="1900">
              <a:solidFill>
                <a:srgbClr val="343B37"/>
              </a:solidFill>
            </a:endParaRPr>
          </a:p>
        </p:txBody>
      </p:sp>
      <p:sp>
        <p:nvSpPr>
          <p:cNvPr id="897" name="Google Shape;897;p15"/>
          <p:cNvSpPr/>
          <p:nvPr/>
        </p:nvSpPr>
        <p:spPr>
          <a:xfrm>
            <a:off x="523875" y="4498975"/>
            <a:ext cx="54675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Риск и доходность</a:t>
            </a:r>
            <a:endParaRPr sz="225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8" name="Google Shape;898;p15"/>
          <p:cNvSpPr/>
          <p:nvPr/>
        </p:nvSpPr>
        <p:spPr>
          <a:xfrm>
            <a:off x="523875" y="5032375"/>
            <a:ext cx="54675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43B37"/>
                </a:solidFill>
              </a:rPr>
              <a:t>Разбирать риски инвестиций</a:t>
            </a:r>
            <a:endParaRPr sz="19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43B37"/>
                </a:solidFill>
              </a:rPr>
              <a:t>и условия страхования.</a:t>
            </a:r>
            <a:endParaRPr sz="1900">
              <a:solidFill>
                <a:srgbClr val="343B37"/>
              </a:solidFill>
            </a:endParaRPr>
          </a:p>
        </p:txBody>
      </p:sp>
      <p:sp>
        <p:nvSpPr>
          <p:cNvPr id="899" name="Google Shape;899;p15"/>
          <p:cNvSpPr/>
          <p:nvPr/>
        </p:nvSpPr>
        <p:spPr>
          <a:xfrm>
            <a:off x="6340475" y="4498975"/>
            <a:ext cx="53277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Финансовая среда</a:t>
            </a:r>
            <a:endParaRPr sz="225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00" name="Google Shape;900;p15"/>
          <p:cNvSpPr/>
          <p:nvPr/>
        </p:nvSpPr>
        <p:spPr>
          <a:xfrm>
            <a:off x="6340475" y="5032375"/>
            <a:ext cx="53277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43B37"/>
                </a:solidFill>
              </a:rPr>
              <a:t>Проверять сведения, подавать</a:t>
            </a:r>
            <a:endParaRPr sz="19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343B37"/>
                </a:solidFill>
              </a:rPr>
              <a:t>обращения и защищать данные.</a:t>
            </a:r>
            <a:endParaRPr sz="1900">
              <a:solidFill>
                <a:srgbClr val="343B37"/>
              </a:solidFill>
            </a:endParaRPr>
          </a:p>
        </p:txBody>
      </p:sp>
      <p:sp>
        <p:nvSpPr>
          <p:cNvPr id="901" name="Google Shape;901;p15"/>
          <p:cNvSpPr/>
          <p:nvPr/>
        </p:nvSpPr>
        <p:spPr>
          <a:xfrm>
            <a:off x="523875" y="6121400"/>
            <a:ext cx="1073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u="sng">
                <a:solidFill>
                  <a:schemeClr val="hlink"/>
                </a:solidFill>
                <a:hlinkClick r:id="rId3"/>
              </a:rPr>
              <a:t>Единая рамка, 2026 ↗ </a:t>
            </a:r>
            <a:r>
              <a:rPr lang="en-US" sz="1350">
                <a:solidFill>
                  <a:srgbClr val="66706A"/>
                </a:solidFill>
              </a:rPr>
              <a:t> ·  утверждена 5 марта 2026  ·  выбранные фрагменты</a:t>
            </a:r>
            <a:endParaRPr sz="1350">
              <a:solidFill>
                <a:srgbClr val="66706A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6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908" name="Google Shape;908;p16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Веб-приложение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909" name="Google Shape;909;p16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6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14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911" name="Google Shape;911;p16"/>
          <p:cNvSpPr/>
          <p:nvPr/>
        </p:nvSpPr>
        <p:spPr>
          <a:xfrm>
            <a:off x="523875" y="990600"/>
            <a:ext cx="111378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Разбор на компьютере и телефоне</a:t>
            </a:r>
            <a:endParaRPr sz="35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2" name="Google Shape;912;p16"/>
          <p:cNvSpPr/>
          <p:nvPr/>
        </p:nvSpPr>
        <p:spPr>
          <a:xfrm>
            <a:off x="1638300" y="5753100"/>
            <a:ext cx="6350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Полный разбор</a:t>
            </a:r>
            <a:endParaRPr sz="21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3" name="Google Shape;913;p16"/>
          <p:cNvSpPr/>
          <p:nvPr/>
        </p:nvSpPr>
        <p:spPr>
          <a:xfrm>
            <a:off x="8851900" y="5753100"/>
            <a:ext cx="265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Шаг за шагом</a:t>
            </a:r>
            <a:endParaRPr sz="21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4" name="Google Shape;914;p16"/>
          <p:cNvSpPr txBox="1"/>
          <p:nvPr/>
        </p:nvSpPr>
        <p:spPr>
          <a:xfrm>
            <a:off x="523875" y="6286500"/>
            <a:ext cx="1036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6706A"/>
                </a:solidFill>
              </a:rPr>
              <a:t>Можно пройти упражнение или сразу открыть полный разбор.</a:t>
            </a:r>
            <a:endParaRPr>
              <a:solidFill>
                <a:srgbClr val="66706A"/>
              </a:solidFill>
            </a:endParaRPr>
          </a:p>
        </p:txBody>
      </p:sp>
      <p:sp>
        <p:nvSpPr>
          <p:cNvPr id="915" name="Google Shape;915;p16"/>
          <p:cNvSpPr/>
          <p:nvPr/>
        </p:nvSpPr>
        <p:spPr>
          <a:xfrm>
            <a:off x="508000" y="1892300"/>
            <a:ext cx="11188800" cy="3632100"/>
          </a:xfrm>
          <a:prstGeom prst="roundRect">
            <a:avLst>
              <a:gd fmla="val 16667" name="adj"/>
            </a:avLst>
          </a:prstGeom>
          <a:solidFill>
            <a:srgbClr val="E4EEE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6"/>
          <p:cNvSpPr/>
          <p:nvPr/>
        </p:nvSpPr>
        <p:spPr>
          <a:xfrm>
            <a:off x="4368800" y="5410200"/>
            <a:ext cx="914400" cy="2160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16"/>
          <p:cNvSpPr/>
          <p:nvPr/>
        </p:nvSpPr>
        <p:spPr>
          <a:xfrm>
            <a:off x="3886200" y="5588000"/>
            <a:ext cx="1854300" cy="76200"/>
          </a:xfrm>
          <a:prstGeom prst="roundRect">
            <a:avLst>
              <a:gd fmla="val 16667" name="adj"/>
            </a:avLst>
          </a:prstGeom>
          <a:solidFill>
            <a:srgbClr val="66706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6"/>
          <p:cNvSpPr/>
          <p:nvPr/>
        </p:nvSpPr>
        <p:spPr>
          <a:xfrm>
            <a:off x="9080500" y="1689100"/>
            <a:ext cx="1778100" cy="3873600"/>
          </a:xfrm>
          <a:prstGeom prst="roundRect">
            <a:avLst>
              <a:gd fmla="val 16667" name="adj"/>
            </a:avLst>
          </a:prstGeom>
          <a:solidFill>
            <a:srgbClr val="20252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16"/>
          <p:cNvSpPr/>
          <p:nvPr/>
        </p:nvSpPr>
        <p:spPr>
          <a:xfrm>
            <a:off x="9766300" y="1765300"/>
            <a:ext cx="406500" cy="38100"/>
          </a:xfrm>
          <a:prstGeom prst="roundRect">
            <a:avLst>
              <a:gd fmla="val 16667" name="adj"/>
            </a:avLst>
          </a:prstGeom>
          <a:solidFill>
            <a:srgbClr val="66706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6"/>
          <p:cNvSpPr/>
          <p:nvPr/>
        </p:nvSpPr>
        <p:spPr>
          <a:xfrm>
            <a:off x="9702800" y="5448300"/>
            <a:ext cx="546000" cy="25500"/>
          </a:xfrm>
          <a:prstGeom prst="roundRect">
            <a:avLst>
              <a:gd fmla="val 16667" name="adj"/>
            </a:avLst>
          </a:prstGeom>
          <a:solidFill>
            <a:srgbClr val="CFD5D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6"/>
          <p:cNvSpPr/>
          <p:nvPr/>
        </p:nvSpPr>
        <p:spPr>
          <a:xfrm>
            <a:off x="1638300" y="1790700"/>
            <a:ext cx="6350100" cy="3708300"/>
          </a:xfrm>
          <a:prstGeom prst="rect">
            <a:avLst/>
          </a:prstGeom>
          <a:solidFill>
            <a:srgbClr val="202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6"/>
          <p:cNvSpPr/>
          <p:nvPr/>
        </p:nvSpPr>
        <p:spPr>
          <a:xfrm>
            <a:off x="4787900" y="1866900"/>
            <a:ext cx="38100" cy="38100"/>
          </a:xfrm>
          <a:prstGeom prst="ellipse">
            <a:avLst/>
          </a:prstGeom>
          <a:solidFill>
            <a:srgbClr val="66706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3" name="Google Shape;92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2100" y="1905000"/>
            <a:ext cx="1574800" cy="340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000" y="1943100"/>
            <a:ext cx="6070601" cy="3414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474E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7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CFCFB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>
              <a:solidFill>
                <a:srgbClr val="FCFCFB"/>
              </a:solidFill>
            </a:endParaRPr>
          </a:p>
        </p:txBody>
      </p:sp>
      <p:sp>
        <p:nvSpPr>
          <p:cNvPr id="931" name="Google Shape;931;p17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4EEEE"/>
                </a:solidFill>
              </a:rPr>
              <a:t>Приглашение к партнёрству</a:t>
            </a:r>
            <a:endParaRPr sz="1350">
              <a:solidFill>
                <a:srgbClr val="E4EEEE"/>
              </a:solidFill>
            </a:endParaRPr>
          </a:p>
        </p:txBody>
      </p:sp>
      <p:sp>
        <p:nvSpPr>
          <p:cNvPr id="932" name="Google Shape;932;p17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7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E4EEEE"/>
                </a:solidFill>
              </a:rPr>
              <a:t>15 / 16</a:t>
            </a:r>
            <a:endParaRPr sz="1275">
              <a:solidFill>
                <a:srgbClr val="E4EEEE"/>
              </a:solidFill>
            </a:endParaRPr>
          </a:p>
        </p:txBody>
      </p:sp>
      <p:sp>
        <p:nvSpPr>
          <p:cNvPr id="934" name="Google Shape;934;p17"/>
          <p:cNvSpPr/>
          <p:nvPr/>
        </p:nvSpPr>
        <p:spPr>
          <a:xfrm>
            <a:off x="523875" y="990600"/>
            <a:ext cx="111378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CFCFB"/>
                </a:solidFill>
                <a:latin typeface="Georgia"/>
                <a:ea typeface="Georgia"/>
                <a:cs typeface="Georgia"/>
                <a:sym typeface="Georgia"/>
              </a:rPr>
              <a:t>Совместный пилот для вашей аудитории</a:t>
            </a:r>
            <a:endParaRPr sz="3400">
              <a:solidFill>
                <a:srgbClr val="FCFCF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5" name="Google Shape;935;p17"/>
          <p:cNvSpPr/>
          <p:nvPr/>
        </p:nvSpPr>
        <p:spPr>
          <a:xfrm>
            <a:off x="523875" y="2197100"/>
            <a:ext cx="5524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CFCFB"/>
                </a:solidFill>
                <a:latin typeface="Georgia"/>
                <a:ea typeface="Georgia"/>
                <a:cs typeface="Georgia"/>
                <a:sym typeface="Georgia"/>
              </a:rPr>
              <a:t>Финансовым организациям</a:t>
            </a:r>
            <a:endParaRPr sz="2500">
              <a:solidFill>
                <a:srgbClr val="FCFCF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6" name="Google Shape;936;p17"/>
          <p:cNvSpPr/>
          <p:nvPr/>
        </p:nvSpPr>
        <p:spPr>
          <a:xfrm>
            <a:off x="523875" y="3022600"/>
            <a:ext cx="55245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4EEEE"/>
                </a:solidFill>
              </a:rPr>
              <a:t>Формат для просвещения:</a:t>
            </a:r>
            <a:endParaRPr sz="2000">
              <a:solidFill>
                <a:srgbClr val="E4EEEE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4EEEE"/>
                </a:solidFill>
              </a:rPr>
              <a:t>обсуждать финансовые решения</a:t>
            </a:r>
            <a:endParaRPr sz="2000">
              <a:solidFill>
                <a:srgbClr val="E4EEEE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4EEEE"/>
                </a:solidFill>
              </a:rPr>
              <a:t>и риски на понятных примерах.</a:t>
            </a:r>
            <a:endParaRPr sz="2000">
              <a:solidFill>
                <a:srgbClr val="E4EEEE"/>
              </a:solidFill>
            </a:endParaRPr>
          </a:p>
        </p:txBody>
      </p:sp>
      <p:sp>
        <p:nvSpPr>
          <p:cNvPr id="937" name="Google Shape;937;p17"/>
          <p:cNvSpPr/>
          <p:nvPr/>
        </p:nvSpPr>
        <p:spPr>
          <a:xfrm>
            <a:off x="6400800" y="2197100"/>
            <a:ext cx="52452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CFCFB"/>
                </a:solidFill>
                <a:latin typeface="Georgia"/>
                <a:ea typeface="Georgia"/>
                <a:cs typeface="Georgia"/>
                <a:sym typeface="Georgia"/>
              </a:rPr>
              <a:t>Образовательным организациям</a:t>
            </a:r>
            <a:endParaRPr sz="2500">
              <a:solidFill>
                <a:srgbClr val="FCFCF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8" name="Google Shape;938;p17"/>
          <p:cNvSpPr/>
          <p:nvPr/>
        </p:nvSpPr>
        <p:spPr>
          <a:xfrm>
            <a:off x="6400800" y="3022600"/>
            <a:ext cx="5245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4EEEE"/>
                </a:solidFill>
              </a:rPr>
              <a:t>Материал для занятий:</a:t>
            </a:r>
            <a:endParaRPr sz="2000">
              <a:solidFill>
                <a:srgbClr val="E4EEEE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4EEEE"/>
                </a:solidFill>
              </a:rPr>
              <a:t>разбирать решения вместе с группой</a:t>
            </a:r>
            <a:endParaRPr sz="2000">
              <a:solidFill>
                <a:srgbClr val="E4EEEE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4EEEE"/>
                </a:solidFill>
              </a:rPr>
              <a:t>и объяснять свои выводы.</a:t>
            </a:r>
            <a:endParaRPr sz="2000">
              <a:solidFill>
                <a:srgbClr val="E4EEEE"/>
              </a:solidFill>
            </a:endParaRPr>
          </a:p>
        </p:txBody>
      </p:sp>
      <p:sp>
        <p:nvSpPr>
          <p:cNvPr id="939" name="Google Shape;939;p17"/>
          <p:cNvSpPr/>
          <p:nvPr/>
        </p:nvSpPr>
        <p:spPr>
          <a:xfrm>
            <a:off x="609600" y="4381500"/>
            <a:ext cx="10972800" cy="84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7"/>
          <p:cNvSpPr/>
          <p:nvPr/>
        </p:nvSpPr>
        <p:spPr>
          <a:xfrm>
            <a:off x="523875" y="4610100"/>
            <a:ext cx="11137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CFCFB"/>
                </a:solidFill>
                <a:latin typeface="Georgia"/>
                <a:ea typeface="Georgia"/>
                <a:cs typeface="Georgia"/>
                <a:sym typeface="Georgia"/>
              </a:rPr>
              <a:t>Аудитория  →  Тема  →  Критерии оценки</a:t>
            </a:r>
            <a:endParaRPr sz="2900">
              <a:solidFill>
                <a:srgbClr val="FCFCF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1" name="Google Shape;941;p17"/>
          <p:cNvSpPr/>
          <p:nvPr/>
        </p:nvSpPr>
        <p:spPr>
          <a:xfrm>
            <a:off x="523875" y="5613400"/>
            <a:ext cx="111378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4EEEE"/>
                </a:solidFill>
              </a:rPr>
              <a:t>В пилоте оценим, как участники объясняют связь</a:t>
            </a:r>
            <a:endParaRPr sz="2000">
              <a:solidFill>
                <a:srgbClr val="E4EEEE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4EEEE"/>
                </a:solidFill>
              </a:rPr>
              <a:t>между ситуацией, реакцией, действием и результатом.</a:t>
            </a:r>
            <a:endParaRPr sz="2000">
              <a:solidFill>
                <a:srgbClr val="E4EEE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8"/>
          <p:cNvSpPr/>
          <p:nvPr/>
        </p:nvSpPr>
        <p:spPr>
          <a:xfrm>
            <a:off x="523875" y="190500"/>
            <a:ext cx="2076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Прожито</a:t>
            </a:r>
            <a:endParaRPr/>
          </a:p>
        </p:txBody>
      </p:sp>
      <p:sp>
        <p:nvSpPr>
          <p:cNvPr id="948" name="Google Shape;948;p18"/>
          <p:cNvSpPr/>
          <p:nvPr/>
        </p:nvSpPr>
        <p:spPr>
          <a:xfrm>
            <a:off x="7534275" y="238125"/>
            <a:ext cx="38862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6706A"/>
                </a:solidFill>
              </a:rPr>
              <a:t>Следующий шаг</a:t>
            </a:r>
            <a:endParaRPr sz="1350">
              <a:solidFill>
                <a:srgbClr val="66706A"/>
              </a:solidFill>
            </a:endParaRPr>
          </a:p>
        </p:txBody>
      </p:sp>
      <p:sp>
        <p:nvSpPr>
          <p:cNvPr id="949" name="Google Shape;949;p18"/>
          <p:cNvSpPr/>
          <p:nvPr/>
        </p:nvSpPr>
        <p:spPr>
          <a:xfrm>
            <a:off x="609600" y="742950"/>
            <a:ext cx="10972800" cy="96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8"/>
          <p:cNvSpPr/>
          <p:nvPr/>
        </p:nvSpPr>
        <p:spPr>
          <a:xfrm>
            <a:off x="10877550" y="6372225"/>
            <a:ext cx="8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6706A"/>
                </a:solidFill>
              </a:rPr>
              <a:t>16 / 16</a:t>
            </a:r>
            <a:endParaRPr sz="1275">
              <a:solidFill>
                <a:srgbClr val="66706A"/>
              </a:solidFill>
            </a:endParaRPr>
          </a:p>
        </p:txBody>
      </p:sp>
      <p:sp>
        <p:nvSpPr>
          <p:cNvPr id="951" name="Google Shape;951;p18"/>
          <p:cNvSpPr/>
          <p:nvPr/>
        </p:nvSpPr>
        <p:spPr>
          <a:xfrm>
            <a:off x="523875" y="990600"/>
            <a:ext cx="1113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Попробуйте «Прожито»</a:t>
            </a:r>
            <a:endParaRPr sz="35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2" name="Google Shape;952;p18"/>
          <p:cNvSpPr/>
          <p:nvPr/>
        </p:nvSpPr>
        <p:spPr>
          <a:xfrm>
            <a:off x="523875" y="2159000"/>
            <a:ext cx="5460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Откройте демо</a:t>
            </a:r>
            <a:endParaRPr sz="28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53" name="Google Shape;95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25" y="3086100"/>
            <a:ext cx="2724151" cy="2724151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18"/>
          <p:cNvSpPr/>
          <p:nvPr/>
        </p:nvSpPr>
        <p:spPr>
          <a:xfrm>
            <a:off x="3524250" y="3492500"/>
            <a:ext cx="2578200" cy="14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43B37"/>
                </a:solidFill>
              </a:rPr>
              <a:t>На своём телефоне</a:t>
            </a:r>
            <a:endParaRPr sz="20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43B37"/>
                </a:solidFill>
              </a:rPr>
              <a:t>или на устройстве</a:t>
            </a:r>
            <a:endParaRPr sz="20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43B37"/>
                </a:solidFill>
              </a:rPr>
              <a:t>на стенде.</a:t>
            </a:r>
            <a:endParaRPr sz="2000">
              <a:solidFill>
                <a:srgbClr val="343B37"/>
              </a:solidFill>
            </a:endParaRPr>
          </a:p>
        </p:txBody>
      </p:sp>
      <p:sp>
        <p:nvSpPr>
          <p:cNvPr id="955" name="Google Shape;955;p18"/>
          <p:cNvSpPr/>
          <p:nvPr/>
        </p:nvSpPr>
        <p:spPr>
          <a:xfrm>
            <a:off x="542925" y="5918200"/>
            <a:ext cx="4889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Открыть демо ↗</a:t>
            </a:r>
            <a:endParaRPr sz="2000" u="sng">
              <a:solidFill>
                <a:srgbClr val="245D65"/>
              </a:solidFill>
            </a:endParaRPr>
          </a:p>
        </p:txBody>
      </p:sp>
      <p:sp>
        <p:nvSpPr>
          <p:cNvPr id="956" name="Google Shape;956;p18"/>
          <p:cNvSpPr/>
          <p:nvPr/>
        </p:nvSpPr>
        <p:spPr>
          <a:xfrm>
            <a:off x="6238875" y="2286000"/>
            <a:ext cx="9600" cy="3743400"/>
          </a:xfrm>
          <a:prstGeom prst="rect">
            <a:avLst/>
          </a:prstGeom>
          <a:solidFill>
            <a:srgbClr val="CFD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18"/>
          <p:cNvSpPr/>
          <p:nvPr/>
        </p:nvSpPr>
        <p:spPr>
          <a:xfrm>
            <a:off x="6705600" y="2159000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45D65"/>
                </a:solidFill>
                <a:latin typeface="Georgia"/>
                <a:ea typeface="Georgia"/>
                <a:cs typeface="Georgia"/>
                <a:sym typeface="Georgia"/>
              </a:rPr>
              <a:t>Обсудим пилот</a:t>
            </a:r>
            <a:endParaRPr sz="2800">
              <a:solidFill>
                <a:srgbClr val="245D6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8" name="Google Shape;958;p18"/>
          <p:cNvSpPr/>
          <p:nvPr/>
        </p:nvSpPr>
        <p:spPr>
          <a:xfrm>
            <a:off x="6705600" y="3416300"/>
            <a:ext cx="49530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Выберем тему и аудиторию.</a:t>
            </a:r>
            <a:endParaRPr sz="26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Договоримся, что проверим</a:t>
            </a:r>
            <a:endParaRPr sz="26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02522"/>
                </a:solidFill>
                <a:latin typeface="Georgia"/>
                <a:ea typeface="Georgia"/>
                <a:cs typeface="Georgia"/>
                <a:sym typeface="Georgia"/>
              </a:rPr>
              <a:t>в пилоте.</a:t>
            </a:r>
            <a:endParaRPr sz="2600">
              <a:solidFill>
                <a:srgbClr val="2025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9" name="Google Shape;959;p18"/>
          <p:cNvSpPr/>
          <p:nvPr/>
        </p:nvSpPr>
        <p:spPr>
          <a:xfrm>
            <a:off x="6718300" y="5334000"/>
            <a:ext cx="4940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43B37"/>
                </a:solidFill>
              </a:rPr>
              <a:t>Подойдите к нам на стенд —</a:t>
            </a:r>
            <a:endParaRPr sz="2000">
              <a:solidFill>
                <a:srgbClr val="343B37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43B37"/>
                </a:solidFill>
              </a:rPr>
              <a:t>начнём с задач вашей организации.</a:t>
            </a:r>
            <a:endParaRPr sz="2000">
              <a:solidFill>
                <a:srgbClr val="343B3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